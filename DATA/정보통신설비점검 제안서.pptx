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687050" cy="756285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66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40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96" tIns="41898" rIns="83796" bIns="4189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96" tIns="41898" rIns="83796" bIns="4189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381305"/>
            <a:ext cx="76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629400"/>
            <a:ext cx="9543593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1374" r="-1374"/>
          <a:stretch/>
        </p:blipFill>
        <p:spPr>
          <a:xfrm>
            <a:off x="571500" y="6957670"/>
            <a:ext cx="170993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56793" y="6924751"/>
            <a:ext cx="34738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주식회사 제이앤지시스템 (J&amp;G SYSTEM)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9267444" y="6945782"/>
            <a:ext cx="10094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2026. 03. 18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9733788" y="6038698"/>
            <a:ext cx="38405" cy="5715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9848088" y="6038698"/>
            <a:ext cx="38405" cy="57150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rcRect l="-420" r="-420"/>
          <a:stretch/>
        </p:blipFill>
        <p:spPr>
          <a:xfrm>
            <a:off x="9962388" y="6228893"/>
            <a:ext cx="38405" cy="761695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/>
          <a:srcRect l="-384" r="-384"/>
          <a:stretch/>
        </p:blipFill>
        <p:spPr>
          <a:xfrm>
            <a:off x="10076688" y="6038698"/>
            <a:ext cx="38405" cy="952805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571500" y="1772107"/>
            <a:ext cx="1457554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5"/>
          <p:cNvSpPr txBox="1"/>
          <p:nvPr/>
        </p:nvSpPr>
        <p:spPr>
          <a:xfrm>
            <a:off x="724205" y="1829714"/>
            <a:ext cx="12289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PROPOSAL 2026</a:t>
            </a:r>
            <a:endParaRPr lang="en-US" sz="1000" dirty="0"/>
          </a:p>
        </p:txBody>
      </p:sp>
      <p:sp>
        <p:nvSpPr>
          <p:cNvPr id="15" name="Text 6"/>
          <p:cNvSpPr txBox="1"/>
          <p:nvPr/>
        </p:nvSpPr>
        <p:spPr>
          <a:xfrm>
            <a:off x="571500" y="2315261"/>
            <a:ext cx="5924398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100" b="1" kern="0" spc="-75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정보통신설비</a:t>
            </a:r>
            <a:endParaRPr lang="en-US" sz="4100" dirty="0"/>
          </a:p>
          <a:p>
            <a:pPr marL="0" indent="0" algn="l">
              <a:buNone/>
            </a:pPr>
            <a:r>
              <a:rPr lang="en-US" sz="4100" b="1" kern="0" spc="-75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유지보수·관리</a:t>
            </a:r>
            <a:r>
              <a:rPr lang="en-US" sz="4100" b="1" kern="0" spc="-75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sz="4100" b="1" kern="0" spc="-75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성능점검</a:t>
            </a:r>
            <a:endParaRPr lang="en-US" sz="4100" dirty="0"/>
          </a:p>
          <a:p>
            <a:pPr marL="0" indent="0" algn="l">
              <a:buNone/>
            </a:pPr>
            <a:r>
              <a:rPr lang="en-US" sz="4100" b="1" kern="0" spc="-75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전문기업 제안서 </a:t>
            </a:r>
            <a:endParaRPr lang="en-US" sz="4100" dirty="0"/>
          </a:p>
        </p:txBody>
      </p:sp>
      <p:sp>
        <p:nvSpPr>
          <p:cNvPr id="16" name="Text 7"/>
          <p:cNvSpPr txBox="1"/>
          <p:nvPr/>
        </p:nvSpPr>
        <p:spPr>
          <a:xfrm>
            <a:off x="571500" y="4601261"/>
            <a:ext cx="42007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대응부터 시스템 안정성까지,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최적화된 인프라 운영 솔루션을 제안합니다. </a:t>
            </a:r>
            <a:endParaRPr lang="en-US" sz="17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A12E815-5BBE-EC69-2AAD-F02461AE8C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7377" y="495816"/>
            <a:ext cx="1688377" cy="593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571500"/>
            <a:ext cx="819302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571500"/>
            <a:ext cx="87691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0" tIns="50800" rIns="127000" bIns="508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소개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37844"/>
            <a:ext cx="927658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기반 IT 인프라 전문기업, 제이앤지시스템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1526134"/>
            <a:ext cx="6162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22년의 업력과 안정적인 사업 수행 역량을 바탕으로 검증된 기술력을 제공합니다.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" y="2135124"/>
            <a:ext cx="3027579" cy="2035454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809244" y="2373782"/>
            <a:ext cx="200254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9244" y="2754173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및 업력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09244" y="2978201"/>
            <a:ext cx="2743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</a:t>
            </a:r>
            <a:endParaRPr lang="en-US" sz="2900" dirty="0"/>
          </a:p>
        </p:txBody>
      </p:sp>
      <p:sp>
        <p:nvSpPr>
          <p:cNvPr id="13" name="Text 9"/>
          <p:cNvSpPr txBox="1"/>
          <p:nvPr/>
        </p:nvSpPr>
        <p:spPr>
          <a:xfrm>
            <a:off x="809244" y="3435401"/>
            <a:ext cx="2628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2003년 설립 이래 축적된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사업 수행 노하우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28593" y="2135124"/>
            <a:ext cx="3027579" cy="2009852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67251" y="237378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67251" y="2754173"/>
            <a:ext cx="2655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매출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4067251" y="2978201"/>
            <a:ext cx="2743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900" dirty="0"/>
          </a:p>
        </p:txBody>
      </p:sp>
      <p:sp>
        <p:nvSpPr>
          <p:cNvPr id="18" name="Text 13"/>
          <p:cNvSpPr txBox="1"/>
          <p:nvPr/>
        </p:nvSpPr>
        <p:spPr>
          <a:xfrm>
            <a:off x="4067251" y="3435401"/>
            <a:ext cx="2628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성장을 통한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탄탄한 재무 건전성 확보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086600" y="2135124"/>
            <a:ext cx="3027579" cy="2035454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4344" y="237378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4344" y="2754173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자본금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324344" y="2978201"/>
            <a:ext cx="2743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900" dirty="0"/>
          </a:p>
        </p:txBody>
      </p:sp>
      <p:sp>
        <p:nvSpPr>
          <p:cNvPr id="23" name="Text 17"/>
          <p:cNvSpPr txBox="1"/>
          <p:nvPr/>
        </p:nvSpPr>
        <p:spPr>
          <a:xfrm>
            <a:off x="7324344" y="3435401"/>
            <a:ext cx="2628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재무 구조 기반의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파트너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71501" y="4467757"/>
            <a:ext cx="2915108" cy="2305373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34" b="-134"/>
          <a:stretch/>
        </p:blipFill>
        <p:spPr>
          <a:xfrm>
            <a:off x="809244" y="4706417"/>
            <a:ext cx="170993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09244" y="5086807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본점 위치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09244" y="5310835"/>
            <a:ext cx="26289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성동구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아차산로 103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09244" y="5958230"/>
            <a:ext cx="2628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기술 지원망 구축 및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신속한 현장 대응 체계 운영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828593" y="4467758"/>
            <a:ext cx="6238951" cy="2305372"/>
          </a:xfrm>
          <a:prstGeom prst="roundRect">
            <a:avLst>
              <a:gd name="adj" fmla="val 4741"/>
            </a:avLst>
          </a:prstGeom>
          <a:solidFill>
            <a:srgbClr val="F8FAFC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3828593" y="4467758"/>
            <a:ext cx="38405" cy="1714500"/>
          </a:xfrm>
          <a:prstGeom prst="roundRect">
            <a:avLst>
              <a:gd name="adj" fmla="val 211639"/>
            </a:avLst>
          </a:prstGeom>
          <a:solidFill>
            <a:srgbClr val="3D2B5A"/>
          </a:solidFill>
          <a:ln w="12700">
            <a:solidFill>
              <a:srgbClr val="3D2B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4095598" y="4927702"/>
            <a:ext cx="5287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2030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095598" y="5203850"/>
            <a:ext cx="524865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IT 운영 안정성 확보 및 기술 역량 강화를 통해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정보통신설비 법정 관리 분야 No.1 전문기업</a:t>
            </a: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도약 </a:t>
            </a:r>
            <a:endParaRPr lang="en-US" sz="14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67444" y="5096866"/>
            <a:ext cx="457200" cy="4572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71500" y="6858000"/>
            <a:ext cx="9543593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 txBox="1"/>
          <p:nvPr/>
        </p:nvSpPr>
        <p:spPr>
          <a:xfrm>
            <a:off x="9982505" y="700979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381305" y="381305"/>
            <a:ext cx="571500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571500"/>
            <a:ext cx="1085393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13893" y="628193"/>
            <a:ext cx="10250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제도 도입 배경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81305" y="981151"/>
            <a:ext cx="1011600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NOW?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2124151"/>
            <a:ext cx="435803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ICT 환경 조성과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</a:t>
            </a:r>
            <a:r>
              <a:rPr lang="en-US" sz="20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확보</a:t>
            </a:r>
            <a:r>
              <a:rPr lang="en-US" sz="2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필요성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3099816"/>
            <a:ext cx="43342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정보통신설비의 고장 및 훼손 방치로 인한 통신 장애와 재난을 사전에 예방하고, 이용자의 안전과 편의를 확보하기 위해 체계적인 관리 시스템이 필수적입니다.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1305" y="4115714"/>
            <a:ext cx="43342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사후 조치를 넘어, 법적 기준에 따른 예방적 유지보수와 정기적인 성능점검을 통해 인프라 수명을 연장하고 안정성을 극대화해야 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1305" y="5418734"/>
            <a:ext cx="42574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81305" y="5713171"/>
            <a:ext cx="94183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확보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81305" y="6046927"/>
            <a:ext cx="1006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통신재난 예방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495958" y="5713171"/>
            <a:ext cx="952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유지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95958" y="6046927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수명 연장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649931" y="5713171"/>
            <a:ext cx="122438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준수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49931" y="6046927"/>
            <a:ext cx="14017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과태료 리스크 제거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08753" y="2059229"/>
            <a:ext cx="5200193" cy="2018995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108753" y="2059229"/>
            <a:ext cx="38405" cy="1999793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404104" y="2354580"/>
            <a:ext cx="533095" cy="533095"/>
          </a:xfrm>
          <a:prstGeom prst="ellipse">
            <a:avLst/>
          </a:prstGeom>
          <a:solidFill>
            <a:srgbClr val="F9FAFB"/>
          </a:solidFill>
          <a:ln w="12699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56809" y="2507285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166714" y="2354580"/>
            <a:ext cx="4038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근거 강화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166714" y="2721254"/>
            <a:ext cx="3924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「정보통신공사업법」 개정('23.7) 및 하위법령 정비에 따라 일정 규모 이상의 건축물에 대한 유지보수·관리 및 성능점검이 의무화되었습니다.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66714" y="3521354"/>
            <a:ext cx="1848002" cy="267005"/>
          </a:xfrm>
          <a:prstGeom prst="roundRect">
            <a:avLst>
              <a:gd name="adj" fmla="val 9784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166714" y="3521354"/>
            <a:ext cx="192206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정보통신공사업법 제37조의2~4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108753" y="4306824"/>
            <a:ext cx="5200193" cy="2018995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5108753" y="4306824"/>
            <a:ext cx="38405" cy="1999793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5404104" y="4602175"/>
            <a:ext cx="533095" cy="533095"/>
          </a:xfrm>
          <a:prstGeom prst="ellipse">
            <a:avLst/>
          </a:prstGeom>
          <a:solidFill>
            <a:srgbClr val="F9FAFB"/>
          </a:solidFill>
          <a:ln w="12699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56809" y="4754880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166714" y="4602175"/>
            <a:ext cx="4038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의무 사항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6166714" y="4968850"/>
            <a:ext cx="3924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관리주체는 유지보수·관리기준을 준수하고, 매년 1회 이상 성능점검을 실시해야 하며, 점검 기록을 5년간 보존해야 합니다.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166714" y="5768950"/>
            <a:ext cx="1190549" cy="267005"/>
          </a:xfrm>
          <a:prstGeom prst="roundRect">
            <a:avLst>
              <a:gd name="adj" fmla="val 9784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6166714" y="5768950"/>
            <a:ext cx="12481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유지보수(반기 1회)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7431329" y="5768950"/>
            <a:ext cx="1076249" cy="267005"/>
          </a:xfrm>
          <a:prstGeom prst="roundRect">
            <a:avLst>
              <a:gd name="adj" fmla="val 9784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7431329" y="5768950"/>
            <a:ext cx="11338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성능점검(연 1회)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81305" y="682873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10148011" y="6981444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1085393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10616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대상 설비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1965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562813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대상 설비 33개 (4대 분류)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47495"/>
            <a:ext cx="5037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「정보통신공사업법 시행령」 [별표 1] 공사의 종류에 따른 분류 기준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2018995"/>
            <a:ext cx="9924898" cy="923544"/>
          </a:xfrm>
          <a:prstGeom prst="roundRect">
            <a:avLst>
              <a:gd name="adj" fmla="val 1633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0449" y="2029054"/>
            <a:ext cx="1904695" cy="905256"/>
          </a:xfrm>
          <a:prstGeom prst="roundRect">
            <a:avLst>
              <a:gd name="adj" fmla="val 17012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286000" y="2029054"/>
            <a:ext cx="9144" cy="905256"/>
          </a:xfrm>
          <a:prstGeom prst="roundRect">
            <a:avLst>
              <a:gd name="adj" fmla="val 1684211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90449" y="2029054"/>
            <a:ext cx="56693" cy="900684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200481" r="-200481"/>
          <a:stretch/>
        </p:blipFill>
        <p:spPr>
          <a:xfrm>
            <a:off x="619049" y="2160727"/>
            <a:ext cx="952805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19049" y="2408530"/>
            <a:ext cx="10396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통신설비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9049" y="2640787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Communication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2248510"/>
            <a:ext cx="38405" cy="384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18842" y="2180844"/>
            <a:ext cx="711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케이블설비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2248510"/>
            <a:ext cx="38405" cy="384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52798" y="2180844"/>
            <a:ext cx="571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배관설비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2248510"/>
            <a:ext cx="38405" cy="384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85839" y="2180844"/>
            <a:ext cx="853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국선인입설비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2248510"/>
            <a:ext cx="38405" cy="384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9795" y="2180844"/>
            <a:ext cx="711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단자함설비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2585009"/>
            <a:ext cx="38405" cy="384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618842" y="2430475"/>
            <a:ext cx="12865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이동통신구내선로설비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2585009"/>
            <a:ext cx="38405" cy="384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552798" y="2430475"/>
            <a:ext cx="5532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전화설비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2585009"/>
            <a:ext cx="38405" cy="384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485839" y="2430475"/>
            <a:ext cx="152613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방송 공동수신 안테나 시설</a:t>
            </a:r>
            <a:endParaRPr lang="en-US" sz="1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2585009"/>
            <a:ext cx="38405" cy="3840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419795" y="2430475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종합유선방송 구내전송선로설비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381305" y="3054096"/>
            <a:ext cx="9924898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2"/>
          <p:cNvSpPr/>
          <p:nvPr/>
        </p:nvSpPr>
        <p:spPr>
          <a:xfrm>
            <a:off x="390449" y="3063240"/>
            <a:ext cx="1904695" cy="638251"/>
          </a:xfrm>
          <a:prstGeom prst="roundRect">
            <a:avLst>
              <a:gd name="adj" fmla="val 3421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3"/>
          <p:cNvSpPr/>
          <p:nvPr/>
        </p:nvSpPr>
        <p:spPr>
          <a:xfrm>
            <a:off x="2286000" y="3063240"/>
            <a:ext cx="9144" cy="638251"/>
          </a:xfrm>
          <a:prstGeom prst="roundRect">
            <a:avLst>
              <a:gd name="adj" fmla="val 238806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390449" y="3063240"/>
            <a:ext cx="56693" cy="637337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5"/>
          <a:srcRect l="-152564" r="-152564"/>
          <a:stretch/>
        </p:blipFill>
        <p:spPr>
          <a:xfrm>
            <a:off x="619049" y="3063240"/>
            <a:ext cx="866851" cy="1901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19049" y="3311042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방송설비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19049" y="3543300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Broadcasting</a:t>
            </a:r>
            <a:endParaRPr lang="en-US" sz="8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23744" y="3357677"/>
            <a:ext cx="47549" cy="47549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2628900" y="3295498"/>
            <a:ext cx="853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방송음향설비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381305" y="3824021"/>
            <a:ext cx="9924898" cy="2447849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390449" y="3834079"/>
            <a:ext cx="1904695" cy="2428646"/>
          </a:xfrm>
          <a:prstGeom prst="roundRect">
            <a:avLst>
              <a:gd name="adj" fmla="val 3841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0"/>
          <p:cNvSpPr/>
          <p:nvPr/>
        </p:nvSpPr>
        <p:spPr>
          <a:xfrm>
            <a:off x="2286000" y="3834079"/>
            <a:ext cx="9144" cy="2428646"/>
          </a:xfrm>
          <a:prstGeom prst="roundRect">
            <a:avLst>
              <a:gd name="adj" fmla="val 80000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1"/>
          <p:cNvSpPr/>
          <p:nvPr/>
        </p:nvSpPr>
        <p:spPr>
          <a:xfrm>
            <a:off x="390449" y="3834079"/>
            <a:ext cx="56693" cy="2419502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7"/>
          <a:srcRect l="-182308" r="-182308"/>
          <a:stretch/>
        </p:blipFill>
        <p:spPr>
          <a:xfrm>
            <a:off x="619049" y="4724705"/>
            <a:ext cx="1104595" cy="190195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19049" y="4972507"/>
            <a:ext cx="11932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정보설비</a:t>
            </a:r>
            <a:endParaRPr lang="en-US" sz="1200" dirty="0"/>
          </a:p>
        </p:txBody>
      </p:sp>
      <p:sp>
        <p:nvSpPr>
          <p:cNvPr id="47" name="Text 33"/>
          <p:cNvSpPr txBox="1"/>
          <p:nvPr/>
        </p:nvSpPr>
        <p:spPr>
          <a:xfrm>
            <a:off x="619049" y="5204765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Information Tech</a:t>
            </a:r>
            <a:endParaRPr lang="en-US" sz="8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23744" y="4048963"/>
            <a:ext cx="47549" cy="47549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2628900" y="3985870"/>
            <a:ext cx="853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네트워크설비</a:t>
            </a:r>
            <a:endParaRPr lang="en-US" sz="10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4053535"/>
            <a:ext cx="38405" cy="384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4552798" y="3985870"/>
            <a:ext cx="1452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전자출입(통제)시스템</a:t>
            </a:r>
            <a:endParaRPr lang="en-US" sz="100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4053535"/>
            <a:ext cx="38405" cy="38405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6485839" y="3985870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원격검침시스템</a:t>
            </a:r>
            <a:endParaRPr lang="en-US" sz="10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4053535"/>
            <a:ext cx="38405" cy="38405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8419795" y="3985870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주차관제시스템</a:t>
            </a:r>
            <a:endParaRPr lang="en-US" sz="100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4303166"/>
            <a:ext cx="38405" cy="3840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2618842" y="4235501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주차유도시스템</a:t>
            </a:r>
            <a:endParaRPr lang="en-US" sz="10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4303166"/>
            <a:ext cx="38405" cy="38405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4552798" y="4235501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무인택배시스템</a:t>
            </a:r>
            <a:endParaRPr lang="en-US" sz="100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4303166"/>
            <a:ext cx="38405" cy="38405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6485839" y="4235501"/>
            <a:ext cx="711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비상벨설비</a:t>
            </a:r>
            <a:endParaRPr lang="en-US" sz="100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4698" y="4298594"/>
            <a:ext cx="47549" cy="47549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8428939" y="4235501"/>
            <a:ext cx="16495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영상정보처리기기 시스템</a:t>
            </a:r>
            <a:endParaRPr lang="en-US" sz="1000" dirty="0"/>
          </a:p>
        </p:txBody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4639666"/>
            <a:ext cx="38405" cy="38405"/>
          </a:xfrm>
          <a:prstGeom prst="rect">
            <a:avLst/>
          </a:prstGeom>
        </p:spPr>
      </p:pic>
      <p:sp>
        <p:nvSpPr>
          <p:cNvPr id="65" name="Text 42"/>
          <p:cNvSpPr txBox="1"/>
          <p:nvPr/>
        </p:nvSpPr>
        <p:spPr>
          <a:xfrm>
            <a:off x="2618842" y="4485132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홈네트워크 이용자 설비(전유부분)</a:t>
            </a:r>
            <a:endParaRPr lang="en-US" sz="1000" dirty="0"/>
          </a:p>
        </p:txBody>
      </p:sp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4639666"/>
            <a:ext cx="38405" cy="38405"/>
          </a:xfrm>
          <a:prstGeom prst="rect">
            <a:avLst/>
          </a:prstGeom>
        </p:spPr>
      </p:pic>
      <p:sp>
        <p:nvSpPr>
          <p:cNvPr id="67" name="Text 43"/>
          <p:cNvSpPr txBox="1"/>
          <p:nvPr/>
        </p:nvSpPr>
        <p:spPr>
          <a:xfrm>
            <a:off x="4552798" y="4485132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빌딩안내시스템(BIS)</a:t>
            </a:r>
            <a:endParaRPr lang="en-US" sz="1000" dirty="0"/>
          </a:p>
        </p:txBody>
      </p:sp>
      <p:pic>
        <p:nvPicPr>
          <p:cNvPr id="68" name="Image 2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4639666"/>
            <a:ext cx="38405" cy="38405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6485839" y="4485132"/>
            <a:ext cx="9244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전기시계시스템</a:t>
            </a:r>
            <a:endParaRPr lang="en-US" sz="1000" dirty="0"/>
          </a:p>
        </p:txBody>
      </p:sp>
      <p:pic>
        <p:nvPicPr>
          <p:cNvPr id="70" name="Image 2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4639666"/>
            <a:ext cx="38405" cy="38405"/>
          </a:xfrm>
          <a:prstGeom prst="rect">
            <a:avLst/>
          </a:prstGeom>
        </p:spPr>
      </p:pic>
      <p:sp>
        <p:nvSpPr>
          <p:cNvPr id="71" name="Text 45"/>
          <p:cNvSpPr txBox="1"/>
          <p:nvPr/>
        </p:nvSpPr>
        <p:spPr>
          <a:xfrm>
            <a:off x="8419795" y="4485132"/>
            <a:ext cx="8385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SI시스템</a:t>
            </a:r>
            <a:endParaRPr lang="en-US" sz="1000" dirty="0"/>
          </a:p>
        </p:txBody>
      </p:sp>
      <p:pic>
        <p:nvPicPr>
          <p:cNvPr id="72" name="Image 2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5063033"/>
            <a:ext cx="38405" cy="38405"/>
          </a:xfrm>
          <a:prstGeom prst="rect">
            <a:avLst/>
          </a:prstGeom>
        </p:spPr>
      </p:pic>
      <p:sp>
        <p:nvSpPr>
          <p:cNvPr id="73" name="Text 46"/>
          <p:cNvSpPr txBox="1"/>
          <p:nvPr/>
        </p:nvSpPr>
        <p:spPr>
          <a:xfrm>
            <a:off x="2618842" y="4908499"/>
            <a:ext cx="12865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시설관리시스템(FMS)</a:t>
            </a:r>
            <a:endParaRPr lang="en-US" sz="1000" dirty="0"/>
          </a:p>
        </p:txBody>
      </p:sp>
      <p:pic>
        <p:nvPicPr>
          <p:cNvPr id="74" name="Image 2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5063033"/>
            <a:ext cx="38405" cy="38405"/>
          </a:xfrm>
          <a:prstGeom prst="rect">
            <a:avLst/>
          </a:prstGeom>
        </p:spPr>
      </p:pic>
      <p:sp>
        <p:nvSpPr>
          <p:cNvPr id="75" name="Text 47"/>
          <p:cNvSpPr txBox="1"/>
          <p:nvPr/>
        </p:nvSpPr>
        <p:spPr>
          <a:xfrm>
            <a:off x="4552798" y="4908499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건물에너지관리시스템(BEMS)</a:t>
            </a:r>
            <a:endParaRPr lang="en-US" sz="1000" dirty="0"/>
          </a:p>
        </p:txBody>
      </p:sp>
      <p:pic>
        <p:nvPicPr>
          <p:cNvPr id="76" name="Image 2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5063033"/>
            <a:ext cx="38405" cy="38405"/>
          </a:xfrm>
          <a:prstGeom prst="rect">
            <a:avLst/>
          </a:prstGeom>
        </p:spPr>
      </p:pic>
      <p:sp>
        <p:nvSpPr>
          <p:cNvPr id="77" name="Text 48"/>
          <p:cNvSpPr txBox="1"/>
          <p:nvPr/>
        </p:nvSpPr>
        <p:spPr>
          <a:xfrm>
            <a:off x="6485839" y="4908499"/>
            <a:ext cx="13624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인원계수 시스템</a:t>
            </a:r>
            <a:endParaRPr lang="en-US" sz="1000" dirty="0"/>
          </a:p>
        </p:txBody>
      </p:sp>
      <p:pic>
        <p:nvPicPr>
          <p:cNvPr id="78" name="Image 2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5063033"/>
            <a:ext cx="38405" cy="38405"/>
          </a:xfrm>
          <a:prstGeom prst="rect">
            <a:avLst/>
          </a:prstGeom>
        </p:spPr>
      </p:pic>
      <p:sp>
        <p:nvSpPr>
          <p:cNvPr id="79" name="Text 49"/>
          <p:cNvSpPr txBox="1"/>
          <p:nvPr/>
        </p:nvSpPr>
        <p:spPr>
          <a:xfrm>
            <a:off x="8419795" y="4908499"/>
            <a:ext cx="14008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경계 감시 시스템</a:t>
            </a:r>
            <a:endParaRPr lang="en-US" sz="1000" dirty="0"/>
          </a:p>
        </p:txBody>
      </p:sp>
      <p:pic>
        <p:nvPicPr>
          <p:cNvPr id="80" name="Image 2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5485486"/>
            <a:ext cx="38405" cy="38405"/>
          </a:xfrm>
          <a:prstGeom prst="rect">
            <a:avLst/>
          </a:prstGeom>
        </p:spPr>
      </p:pic>
      <p:sp>
        <p:nvSpPr>
          <p:cNvPr id="81" name="Text 50"/>
          <p:cNvSpPr txBox="1"/>
          <p:nvPr/>
        </p:nvSpPr>
        <p:spPr>
          <a:xfrm>
            <a:off x="2618842" y="5330952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병원 설비(의료용 너스콜)</a:t>
            </a:r>
            <a:endParaRPr lang="en-US" sz="1000" dirty="0"/>
          </a:p>
        </p:txBody>
      </p:sp>
      <p:pic>
        <p:nvPicPr>
          <p:cNvPr id="82" name="Image 2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5485486"/>
            <a:ext cx="38405" cy="38405"/>
          </a:xfrm>
          <a:prstGeom prst="rect">
            <a:avLst/>
          </a:prstGeom>
        </p:spPr>
      </p:pic>
      <p:sp>
        <p:nvSpPr>
          <p:cNvPr id="83" name="Text 51"/>
          <p:cNvSpPr txBox="1"/>
          <p:nvPr/>
        </p:nvSpPr>
        <p:spPr>
          <a:xfrm>
            <a:off x="4552798" y="5330952"/>
            <a:ext cx="13624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도난방지 시스템</a:t>
            </a:r>
            <a:endParaRPr lang="en-US" sz="1000" dirty="0"/>
          </a:p>
        </p:txBody>
      </p:sp>
      <p:pic>
        <p:nvPicPr>
          <p:cNvPr id="84" name="Image 3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5485486"/>
            <a:ext cx="38405" cy="38405"/>
          </a:xfrm>
          <a:prstGeom prst="rect">
            <a:avLst/>
          </a:prstGeom>
        </p:spPr>
      </p:pic>
      <p:sp>
        <p:nvSpPr>
          <p:cNvPr id="85" name="Text 52"/>
          <p:cNvSpPr txBox="1"/>
          <p:nvPr/>
        </p:nvSpPr>
        <p:spPr>
          <a:xfrm>
            <a:off x="6485839" y="5330952"/>
            <a:ext cx="11146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공장 시스템</a:t>
            </a:r>
            <a:endParaRPr lang="en-US" sz="1000" dirty="0"/>
          </a:p>
        </p:txBody>
      </p:sp>
      <p:pic>
        <p:nvPicPr>
          <p:cNvPr id="86" name="Image 3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24698" y="5485486"/>
            <a:ext cx="38405" cy="38405"/>
          </a:xfrm>
          <a:prstGeom prst="rect">
            <a:avLst/>
          </a:prstGeom>
        </p:spPr>
      </p:pic>
      <p:sp>
        <p:nvSpPr>
          <p:cNvPr id="87" name="Text 53"/>
          <p:cNvSpPr txBox="1"/>
          <p:nvPr/>
        </p:nvSpPr>
        <p:spPr>
          <a:xfrm>
            <a:off x="8419795" y="5330952"/>
            <a:ext cx="12390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도서관 시스템</a:t>
            </a:r>
            <a:endParaRPr lang="en-US" sz="1000" dirty="0"/>
          </a:p>
        </p:txBody>
      </p:sp>
      <p:pic>
        <p:nvPicPr>
          <p:cNvPr id="88" name="Image 3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5908853"/>
            <a:ext cx="38405" cy="38405"/>
          </a:xfrm>
          <a:prstGeom prst="rect">
            <a:avLst/>
          </a:prstGeom>
        </p:spPr>
      </p:pic>
      <p:sp>
        <p:nvSpPr>
          <p:cNvPr id="89" name="Text 54"/>
          <p:cNvSpPr txBox="1"/>
          <p:nvPr/>
        </p:nvSpPr>
        <p:spPr>
          <a:xfrm>
            <a:off x="2618842" y="5754319"/>
            <a:ext cx="13624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이상음원 시스템</a:t>
            </a:r>
            <a:endParaRPr lang="en-US" sz="1000" dirty="0"/>
          </a:p>
        </p:txBody>
      </p:sp>
      <p:pic>
        <p:nvPicPr>
          <p:cNvPr id="90" name="Image 3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7700" y="5908853"/>
            <a:ext cx="38405" cy="38405"/>
          </a:xfrm>
          <a:prstGeom prst="rect">
            <a:avLst/>
          </a:prstGeom>
        </p:spPr>
      </p:pic>
      <p:sp>
        <p:nvSpPr>
          <p:cNvPr id="91" name="Text 55"/>
          <p:cNvSpPr txBox="1"/>
          <p:nvPr/>
        </p:nvSpPr>
        <p:spPr>
          <a:xfrm>
            <a:off x="4552798" y="5754319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IoT기반 지하공간 안전관리 시스템</a:t>
            </a:r>
            <a:endParaRPr lang="en-US" sz="1000" dirty="0"/>
          </a:p>
        </p:txBody>
      </p:sp>
      <p:pic>
        <p:nvPicPr>
          <p:cNvPr id="92" name="Image 3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742" y="5908853"/>
            <a:ext cx="38405" cy="38405"/>
          </a:xfrm>
          <a:prstGeom prst="rect">
            <a:avLst/>
          </a:prstGeom>
        </p:spPr>
      </p:pic>
      <p:sp>
        <p:nvSpPr>
          <p:cNvPr id="93" name="Text 56"/>
          <p:cNvSpPr txBox="1"/>
          <p:nvPr/>
        </p:nvSpPr>
        <p:spPr>
          <a:xfrm>
            <a:off x="6485839" y="5754319"/>
            <a:ext cx="9628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사이니지</a:t>
            </a:r>
            <a:endParaRPr lang="en-US" sz="1000" dirty="0"/>
          </a:p>
        </p:txBody>
      </p:sp>
      <p:sp>
        <p:nvSpPr>
          <p:cNvPr id="94" name="Shape 57"/>
          <p:cNvSpPr/>
          <p:nvPr/>
        </p:nvSpPr>
        <p:spPr>
          <a:xfrm>
            <a:off x="381305" y="6377026"/>
            <a:ext cx="9924898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58"/>
          <p:cNvSpPr/>
          <p:nvPr/>
        </p:nvSpPr>
        <p:spPr>
          <a:xfrm>
            <a:off x="390449" y="6387084"/>
            <a:ext cx="1904695" cy="638251"/>
          </a:xfrm>
          <a:prstGeom prst="roundRect">
            <a:avLst>
              <a:gd name="adj" fmla="val 3421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59"/>
          <p:cNvSpPr/>
          <p:nvPr/>
        </p:nvSpPr>
        <p:spPr>
          <a:xfrm>
            <a:off x="2286000" y="6387084"/>
            <a:ext cx="9144" cy="638251"/>
          </a:xfrm>
          <a:prstGeom prst="roundRect">
            <a:avLst>
              <a:gd name="adj" fmla="val 238806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60"/>
          <p:cNvSpPr/>
          <p:nvPr/>
        </p:nvSpPr>
        <p:spPr>
          <a:xfrm>
            <a:off x="390449" y="6387084"/>
            <a:ext cx="56693" cy="637337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8" name="Image 35" descr="preencoded.png"/>
          <p:cNvPicPr>
            <a:picLocks noChangeAspect="1"/>
          </p:cNvPicPr>
          <p:nvPr/>
        </p:nvPicPr>
        <p:blipFill>
          <a:blip r:embed="rId8"/>
          <a:srcRect l="-99145" r="-99145"/>
          <a:stretch/>
        </p:blipFill>
        <p:spPr>
          <a:xfrm>
            <a:off x="619049" y="6387084"/>
            <a:ext cx="638251" cy="190195"/>
          </a:xfrm>
          <a:prstGeom prst="rect">
            <a:avLst/>
          </a:prstGeom>
        </p:spPr>
      </p:pic>
      <p:sp>
        <p:nvSpPr>
          <p:cNvPr id="99" name="Text 61"/>
          <p:cNvSpPr txBox="1"/>
          <p:nvPr/>
        </p:nvSpPr>
        <p:spPr>
          <a:xfrm>
            <a:off x="619049" y="6633972"/>
            <a:ext cx="795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설비</a:t>
            </a:r>
            <a:endParaRPr lang="en-US" sz="1200" dirty="0"/>
          </a:p>
        </p:txBody>
      </p:sp>
      <p:sp>
        <p:nvSpPr>
          <p:cNvPr id="100" name="Text 62"/>
          <p:cNvSpPr txBox="1"/>
          <p:nvPr/>
        </p:nvSpPr>
        <p:spPr>
          <a:xfrm>
            <a:off x="619049" y="6867144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Others</a:t>
            </a:r>
            <a:endParaRPr lang="en-US" sz="800" dirty="0"/>
          </a:p>
        </p:txBody>
      </p:sp>
      <p:pic>
        <p:nvPicPr>
          <p:cNvPr id="101" name="Image 3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23744" y="6681521"/>
            <a:ext cx="47549" cy="47549"/>
          </a:xfrm>
          <a:prstGeom prst="rect">
            <a:avLst/>
          </a:prstGeom>
        </p:spPr>
      </p:pic>
      <p:sp>
        <p:nvSpPr>
          <p:cNvPr id="102" name="Text 63"/>
          <p:cNvSpPr txBox="1"/>
          <p:nvPr/>
        </p:nvSpPr>
        <p:spPr>
          <a:xfrm>
            <a:off x="2628900" y="6618427"/>
            <a:ext cx="10817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통신용 전원설비</a:t>
            </a:r>
            <a:endParaRPr lang="en-US" sz="1000" dirty="0"/>
          </a:p>
        </p:txBody>
      </p:sp>
      <p:pic>
        <p:nvPicPr>
          <p:cNvPr id="103" name="Image 3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57700" y="6681521"/>
            <a:ext cx="47549" cy="47549"/>
          </a:xfrm>
          <a:prstGeom prst="rect">
            <a:avLst/>
          </a:prstGeom>
        </p:spPr>
      </p:pic>
      <p:sp>
        <p:nvSpPr>
          <p:cNvPr id="104" name="Text 64"/>
          <p:cNvSpPr txBox="1"/>
          <p:nvPr/>
        </p:nvSpPr>
        <p:spPr>
          <a:xfrm>
            <a:off x="4561942" y="6618427"/>
            <a:ext cx="8531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통신접지설비</a:t>
            </a:r>
            <a:endParaRPr lang="en-US" sz="1000" dirty="0"/>
          </a:p>
        </p:txBody>
      </p:sp>
      <p:sp>
        <p:nvSpPr>
          <p:cNvPr id="105" name="Shape 65"/>
          <p:cNvSpPr/>
          <p:nvPr/>
        </p:nvSpPr>
        <p:spPr>
          <a:xfrm>
            <a:off x="381305" y="7176211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6" name="Image 3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81305" y="7309714"/>
            <a:ext cx="114300" cy="114300"/>
          </a:xfrm>
          <a:prstGeom prst="rect">
            <a:avLst/>
          </a:prstGeom>
        </p:spPr>
      </p:pic>
      <p:sp>
        <p:nvSpPr>
          <p:cNvPr id="107" name="Text 66"/>
          <p:cNvSpPr txBox="1"/>
          <p:nvPr/>
        </p:nvSpPr>
        <p:spPr>
          <a:xfrm>
            <a:off x="552298" y="7281367"/>
            <a:ext cx="5375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건축물 내 설치된 위 33개 종류의 정보통신설비 전체가 법정 점검 및 관리 대상에 포함됩니다.</a:t>
            </a:r>
            <a:endParaRPr lang="en-US" sz="800" dirty="0"/>
          </a:p>
        </p:txBody>
      </p:sp>
      <p:sp>
        <p:nvSpPr>
          <p:cNvPr id="108" name="Text 67"/>
          <p:cNvSpPr txBox="1"/>
          <p:nvPr/>
        </p:nvSpPr>
        <p:spPr>
          <a:xfrm>
            <a:off x="10175443" y="7281367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677010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381305"/>
            <a:ext cx="923544" cy="276149"/>
          </a:xfrm>
          <a:prstGeom prst="roundRect">
            <a:avLst>
              <a:gd name="adj" fmla="val 91345"/>
            </a:avLst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1305" y="381305"/>
            <a:ext cx="9811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771754"/>
            <a:ext cx="4715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시행 로드맵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297534"/>
            <a:ext cx="5165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 규모에 따른 정보통신설비 유지보수·관리제도 의무화 시행 시기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2136038" y="2814523"/>
            <a:ext cx="6413602" cy="91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695" y="5969203"/>
            <a:ext cx="9162288" cy="504749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5969203"/>
            <a:ext cx="19202" cy="504749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04595" y="6121908"/>
            <a:ext cx="88203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「건축법」 제2조제2항제2호에 따른 공동주택 및 「초·중등교육법」 제2조에 따른 학교는 제외됩니다</a:t>
            </a: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1093" y="6157570"/>
            <a:ext cx="133502" cy="1335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1305" y="690554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381305" y="7009790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0170871" y="7009790"/>
            <a:ext cx="219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7438" y="2585923"/>
            <a:ext cx="457200" cy="457200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1031" r="-1031"/>
          <a:stretch/>
        </p:blipFill>
        <p:spPr>
          <a:xfrm>
            <a:off x="2060143" y="2728570"/>
            <a:ext cx="152705" cy="17099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61695" y="3271723"/>
            <a:ext cx="2752344" cy="2324405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 rot="2700000">
            <a:off x="2126894" y="3214116"/>
            <a:ext cx="95098" cy="950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1577340" y="3567074"/>
            <a:ext cx="11183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37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2025.07.19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653235" y="3952951"/>
            <a:ext cx="971093" cy="323698"/>
          </a:xfrm>
          <a:prstGeom prst="roundRect">
            <a:avLst>
              <a:gd name="adj" fmla="val 664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1613916" y="3952951"/>
            <a:ext cx="104973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시행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36853" y="4423867"/>
            <a:ext cx="160477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연면적 30,000㎡ 이상</a:t>
            </a:r>
            <a:r>
              <a:rPr 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건축물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(제도 시행 원년)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15154" y="2585923"/>
            <a:ext cx="457200" cy="4572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t="-571" b="-571"/>
          <a:stretch/>
        </p:blipFill>
        <p:spPr>
          <a:xfrm>
            <a:off x="5247742" y="2728570"/>
            <a:ext cx="190195" cy="170993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3968496" y="3271723"/>
            <a:ext cx="2752344" cy="2324405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0"/>
          <p:cNvSpPr/>
          <p:nvPr/>
        </p:nvSpPr>
        <p:spPr>
          <a:xfrm rot="2700000">
            <a:off x="5333695" y="3214116"/>
            <a:ext cx="95098" cy="950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4784141" y="3567074"/>
            <a:ext cx="11183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37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2026.07.19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4860036" y="3952951"/>
            <a:ext cx="971093" cy="323698"/>
          </a:xfrm>
          <a:prstGeom prst="roundRect">
            <a:avLst>
              <a:gd name="adj" fmla="val 664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4820717" y="3952951"/>
            <a:ext cx="104973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확대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543654" y="4423867"/>
            <a:ext cx="160477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연면적 10,000㎡ 이상</a:t>
            </a:r>
            <a:r>
              <a:rPr 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30,000㎡ 미만 건축물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(적용 대상 확대)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21954" y="2585923"/>
            <a:ext cx="457200" cy="457200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 l="-1031" r="-1031"/>
          <a:stretch/>
        </p:blipFill>
        <p:spPr>
          <a:xfrm>
            <a:off x="8473745" y="2728570"/>
            <a:ext cx="152705" cy="170993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176211" y="3271723"/>
            <a:ext cx="2752344" cy="2324405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 rot="2700000">
            <a:off x="8540496" y="3214116"/>
            <a:ext cx="95098" cy="950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7"/>
          <p:cNvSpPr txBox="1"/>
          <p:nvPr/>
        </p:nvSpPr>
        <p:spPr>
          <a:xfrm>
            <a:off x="7991856" y="3567074"/>
            <a:ext cx="11183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2027.07.19</a:t>
            </a:r>
            <a:endParaRPr lang="en-US" sz="1400" dirty="0"/>
          </a:p>
        </p:txBody>
      </p:sp>
      <p:sp>
        <p:nvSpPr>
          <p:cNvPr id="38" name="Shape 28"/>
          <p:cNvSpPr/>
          <p:nvPr/>
        </p:nvSpPr>
        <p:spPr>
          <a:xfrm>
            <a:off x="7894930" y="3952951"/>
            <a:ext cx="1313993" cy="323698"/>
          </a:xfrm>
          <a:prstGeom prst="roundRect">
            <a:avLst>
              <a:gd name="adj" fmla="val 664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7842809" y="3952951"/>
            <a:ext cx="1420063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전면 시행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7800746" y="4423867"/>
            <a:ext cx="150601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연면적 5,000㎡ 이상</a:t>
            </a:r>
            <a:r>
              <a:rPr 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10,000㎡ 미만 건축물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(공동주택·학교 제외)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01941" cy="592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1190549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 Point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1965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657087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관리주체 판단 기준 Q&amp;A 핵심 5선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47495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리스크 예방을 위한 필수 확인 사항 및 주요쟁점 정리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6" y="2114093"/>
            <a:ext cx="4809744" cy="1967789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1305" y="2114093"/>
            <a:ext cx="45719" cy="1945737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19050" y="2776119"/>
            <a:ext cx="387356" cy="237428"/>
          </a:xfrm>
          <a:prstGeom prst="roundRect">
            <a:avLst>
              <a:gd name="adj" fmla="val 79896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19049" y="2776119"/>
            <a:ext cx="444507" cy="2374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1055" y="2756916"/>
            <a:ext cx="3439938" cy="207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</a:t>
            </a: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5,000㎡ 이상이면 무조건 대상인가요?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7046" y="3180283"/>
            <a:ext cx="3978788" cy="59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네, 맞습니다.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단, 공동주택과 초·중·고교 시설을 제외한 연면적 5,000㎡ 이상의 모든 건축물은 의무 대상입니다. 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1305" y="4782312"/>
            <a:ext cx="4809745" cy="1918133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81305" y="4782312"/>
            <a:ext cx="45719" cy="1896637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50" y="5443423"/>
            <a:ext cx="387356" cy="231437"/>
          </a:xfrm>
          <a:prstGeom prst="roundRect">
            <a:avLst>
              <a:gd name="adj" fmla="val 79896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9049" y="5443423"/>
            <a:ext cx="444507" cy="23143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21055" y="5425136"/>
            <a:ext cx="3640420" cy="202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FM(시설관리)업체가 관리주체가 되나요?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7046" y="5848503"/>
            <a:ext cx="3978789" cy="57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FM업체는 단순 '업무 수탁자'입니다. 관리주체는 </a:t>
            </a:r>
            <a:r>
              <a:rPr lang="en-US" sz="11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소유자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또는 실질적 권한을 가진 자여야 합니다. 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57140" y="2114093"/>
            <a:ext cx="4809746" cy="1278129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57139" y="2114093"/>
            <a:ext cx="45719" cy="1260064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695799" y="2453336"/>
            <a:ext cx="387356" cy="243130"/>
          </a:xfrm>
          <a:prstGeom prst="roundRect">
            <a:avLst>
              <a:gd name="adj" fmla="val 79896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695798" y="2453336"/>
            <a:ext cx="444507" cy="2431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96890" y="2434133"/>
            <a:ext cx="3417260" cy="212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분야 관리자와 겸직이 가능한가요?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33795" y="2857501"/>
            <a:ext cx="3978790" cy="40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정보통신공사업법상 제한은 없으나, </a:t>
            </a:r>
            <a:r>
              <a:rPr lang="en-US" sz="11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전기·소방 등 타 법령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겸직을 금지하는지 반드시 개별 검토해야 합니다. 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51068" y="3781971"/>
            <a:ext cx="4809746" cy="1278129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51067" y="3781971"/>
            <a:ext cx="45719" cy="1260064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689727" y="3997771"/>
            <a:ext cx="387356" cy="243130"/>
          </a:xfrm>
          <a:prstGeom prst="roundRect">
            <a:avLst>
              <a:gd name="adj" fmla="val 79896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689726" y="3997771"/>
            <a:ext cx="444507" cy="2431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90818" y="3979482"/>
            <a:ext cx="3640420" cy="212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공사업체 위탁 시 선임 의무 면제?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27723" y="4402849"/>
            <a:ext cx="3978790" cy="60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면제가 아니라 </a:t>
            </a:r>
            <a:r>
              <a:rPr lang="en-US" sz="11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'선임 간주'</a:t>
            </a: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위탁 시에도 반드시 업체 소속 기술자를 담당자로 지정하여 지자체 신고를 완료해야 합니다. 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51069" y="5382595"/>
            <a:ext cx="4809746" cy="1278129"/>
          </a:xfrm>
          <a:prstGeom prst="roundRect">
            <a:avLst>
              <a:gd name="adj" fmla="val 578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451068" y="5382595"/>
            <a:ext cx="45719" cy="1260064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689728" y="5599309"/>
            <a:ext cx="387356" cy="243130"/>
          </a:xfrm>
          <a:prstGeom prst="roundRect">
            <a:avLst>
              <a:gd name="adj" fmla="val 79896"/>
            </a:avLst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689727" y="5599309"/>
            <a:ext cx="444507" cy="2431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190818" y="5580106"/>
            <a:ext cx="3773773" cy="212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과태료 부과 유예 기간은 언제까지인가요?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127724" y="6003473"/>
            <a:ext cx="3978790" cy="604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1월 18일까지.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해당 기간 내 선임 완료 및 1회 이상 점검 실시 시 과태료 부과를 유예하고 있습니다. 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1037844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970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의무사항 요약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9646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46963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의무사항 요약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76756"/>
            <a:ext cx="5458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관리주체가 반드시 준수해야 할 4대 핵심 의무 (점검, 보존, 신고, 위탁)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2286000"/>
            <a:ext cx="4848149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1305" y="2286000"/>
            <a:ext cx="38405" cy="2009851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94944" y="26005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862279" y="2752344"/>
            <a:ext cx="200254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57554" y="2609698"/>
            <a:ext cx="169346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점검 주기 준수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86961" y="2600554"/>
            <a:ext cx="428854" cy="267005"/>
          </a:xfrm>
          <a:prstGeom prst="roundRect">
            <a:avLst>
              <a:gd name="adj" fmla="val 342465"/>
            </a:avLst>
          </a:prstGeom>
          <a:solidFill>
            <a:srgbClr val="2F6FED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458614" y="2600554"/>
            <a:ext cx="4864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457554" y="2976372"/>
            <a:ext cx="35341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관리점검은 반기 </a:t>
            </a:r>
            <a: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 이상 </a:t>
            </a:r>
            <a:b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성능점검은 매년</a:t>
            </a:r>
            <a: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 이상</a:t>
            </a:r>
            <a:b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</a:t>
            </a:r>
            <a:r>
              <a:rPr lang="ko-KR" alt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실시해야 합니다</a:t>
            </a:r>
            <a:r>
              <a:rPr lang="en-US" altLang="ko-KR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57139" y="2286000"/>
            <a:ext cx="4848149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457139" y="2286000"/>
            <a:ext cx="38405" cy="2009851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771693" y="26005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5909767" y="2752344"/>
            <a:ext cx="256946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534302" y="2609698"/>
            <a:ext cx="169346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기록 보존 의무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603943" y="2600554"/>
            <a:ext cx="390449" cy="267005"/>
          </a:xfrm>
          <a:prstGeom prst="roundRect">
            <a:avLst>
              <a:gd name="adj" fmla="val 342465"/>
            </a:avLst>
          </a:prstGeom>
          <a:solidFill>
            <a:srgbClr val="3D2B5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9575597" y="2600554"/>
            <a:ext cx="4480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6534301" y="3055143"/>
            <a:ext cx="377190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서식에 따른 결과보고서를   작성</a:t>
            </a:r>
            <a:b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작성된 결과보고서는 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년간 보관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b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</a:t>
            </a:r>
            <a:r>
              <a:rPr lang="ko-KR" alt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요청시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즉시 제출 합니다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81305" y="4543654"/>
            <a:ext cx="4848149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381305" y="4543654"/>
            <a:ext cx="38405" cy="2009851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94944" y="4857293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649" y="500999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57554" y="4867351"/>
            <a:ext cx="1694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선임·해임 신고 기한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449470" y="4857293"/>
            <a:ext cx="466344" cy="267005"/>
          </a:xfrm>
          <a:prstGeom prst="roundRect">
            <a:avLst>
              <a:gd name="adj" fmla="val 342465"/>
            </a:avLst>
          </a:prstGeom>
          <a:solidFill>
            <a:srgbClr val="3D2B5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4421124" y="4857293"/>
            <a:ext cx="5239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457554" y="5234026"/>
            <a:ext cx="309246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선임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해임 </a:t>
            </a:r>
            <a:r>
              <a:rPr lang="ko-KR" alt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사요발생시</a:t>
            </a:r>
            <a:b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2. 30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이내에 관할 시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</a:t>
            </a:r>
            <a:r>
              <a:rPr lang="en-US" altLang="ko-KR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ko-KR" alt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구청장에 신고를 완료해야 합니다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457139" y="4543654"/>
            <a:ext cx="4848149" cy="2029054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457139" y="4543654"/>
            <a:ext cx="38405" cy="2009851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5771693" y="4857293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5896051" y="5009998"/>
            <a:ext cx="285293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534302" y="4867351"/>
            <a:ext cx="169346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업체 위탁 가능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9444838" y="4857293"/>
            <a:ext cx="552298" cy="267005"/>
          </a:xfrm>
          <a:prstGeom prst="roundRect">
            <a:avLst>
              <a:gd name="adj" fmla="val 342465"/>
            </a:avLst>
          </a:prstGeom>
          <a:solidFill>
            <a:srgbClr val="2F6FED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/>
          <p:nvPr/>
        </p:nvSpPr>
        <p:spPr>
          <a:xfrm>
            <a:off x="9416491" y="4857293"/>
            <a:ext cx="6099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534302" y="5234026"/>
            <a:ext cx="3534156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정보통신공사업자에게 유지보수 업무를 위탁할 수 </a:t>
            </a:r>
            <a:r>
              <a:rPr lang="en-US" sz="1400" b="1" dirty="0" err="1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있으며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경우 </a:t>
            </a: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관리자를 선임한 것으로 간주</a:t>
            </a: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의무를 충족합니다. 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381305" y="6858000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381305" y="7009790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10172700" y="700979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1781251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19275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기준 &amp; 실무 주의사항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1965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53410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기준 &amp; 실무 주의사항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4749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 규모별 적격 기술자 배치 및 운영 가이드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2114093"/>
            <a:ext cx="4723790" cy="4505249"/>
          </a:xfrm>
          <a:prstGeom prst="roundRect">
            <a:avLst>
              <a:gd name="adj" fmla="val 1030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0449" y="2124151"/>
            <a:ext cx="4705502" cy="523951"/>
          </a:xfrm>
          <a:prstGeom prst="roundRect">
            <a:avLst>
              <a:gd name="adj" fmla="val 76154"/>
            </a:avLst>
          </a:prstGeom>
          <a:solidFill>
            <a:srgbClr val="1F2A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19049" y="2124151"/>
            <a:ext cx="163494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연면적별 기술자 등급 기준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4733849" y="2307031"/>
            <a:ext cx="133502" cy="152705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449" y="2643530"/>
          <a:ext cx="4704588" cy="3915460"/>
        </p:xfrm>
        <a:graphic>
          <a:graphicData uri="http://schemas.openxmlformats.org/drawingml/2006/table">
            <a:tbl>
              <a:tblPr/>
              <a:tblGrid>
                <a:gridCol w="188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2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8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60,000㎡ 이상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특급기술자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최상위 관리 역량 필요</a:t>
                      </a:r>
                      <a:endParaRPr lang="en-US" sz="1200" dirty="0"/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30,000㎡ ~ 60,000㎡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고급기술자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고난도 설비 운영 가능</a:t>
                      </a:r>
                      <a:endParaRPr lang="en-US" sz="1200" dirty="0"/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15,000㎡ ~ 30,000㎡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중급기술자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실무 중심의 운영 관리</a:t>
                      </a:r>
                      <a:endParaRPr lang="en-US" sz="1200" dirty="0"/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8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5,000㎡ ~ 15,000㎡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초급기술자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4B55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기본적인 유지보수 수행</a:t>
                      </a:r>
                      <a:endParaRPr lang="en-US" sz="1200" dirty="0"/>
                    </a:p>
                  </a:txBody>
                  <a:tcPr marL="228600" marR="2286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581498" y="2114093"/>
            <a:ext cx="2266798" cy="2161642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581498" y="2114093"/>
            <a:ext cx="38405" cy="2137867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5762549" y="2657246"/>
            <a:ext cx="1904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514" b="-514"/>
          <a:stretch/>
        </p:blipFill>
        <p:spPr>
          <a:xfrm>
            <a:off x="5762549" y="2354580"/>
            <a:ext cx="200254" cy="1618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38698" y="2314346"/>
            <a:ext cx="10003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인정교육 이수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62549" y="2776118"/>
            <a:ext cx="1981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전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20시간 이상의 법정 인정교육</a:t>
            </a: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반드시 이수해야 합니다.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38490" y="2114093"/>
            <a:ext cx="2266798" cy="2161642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8038490" y="2114093"/>
            <a:ext cx="38405" cy="2137867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8219542" y="2657246"/>
            <a:ext cx="1904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514" b="-514"/>
          <a:stretch/>
        </p:blipFill>
        <p:spPr>
          <a:xfrm>
            <a:off x="8219542" y="2354580"/>
            <a:ext cx="200254" cy="1618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95690" y="2314346"/>
            <a:ext cx="10479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선임 허용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219542" y="2776118"/>
            <a:ext cx="1981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1명의 관리자가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5개 건축물까지</a:t>
            </a: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중복 선임이 가능합니다.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581498" y="4462272"/>
            <a:ext cx="2266798" cy="2161642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5581498" y="4462272"/>
            <a:ext cx="38405" cy="2137867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762549" y="5005426"/>
            <a:ext cx="1904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363" r="-363"/>
          <a:stretch/>
        </p:blipFill>
        <p:spPr>
          <a:xfrm>
            <a:off x="5762549" y="4702759"/>
            <a:ext cx="142646" cy="16184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981090" y="4662526"/>
            <a:ext cx="7050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기한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762549" y="5124298"/>
            <a:ext cx="1981505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 또는 해임 발생일로부터 </a:t>
            </a: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이내</a:t>
            </a: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관할 지자체 신고 필수.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38490" y="4462272"/>
            <a:ext cx="2266798" cy="2161642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8038490" y="4462272"/>
            <a:ext cx="38405" cy="2137867"/>
          </a:xfrm>
          <a:prstGeom prst="rect">
            <a:avLst/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219542" y="5005426"/>
            <a:ext cx="1904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t="-514" b="-514"/>
          <a:stretch/>
        </p:blipFill>
        <p:spPr>
          <a:xfrm>
            <a:off x="8219542" y="4702759"/>
            <a:ext cx="200254" cy="161849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495690" y="4662526"/>
            <a:ext cx="156545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면적 합산 &amp; 임차 관리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8219542" y="5124298"/>
            <a:ext cx="1981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소유자 면적 합산,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임차 시 협의 불가하면 각자 관리.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219542" y="5855818"/>
            <a:ext cx="1904695" cy="571500"/>
          </a:xfrm>
          <a:prstGeom prst="roundRect">
            <a:avLst>
              <a:gd name="adj" fmla="val 32000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1"/>
          <p:cNvSpPr/>
          <p:nvPr/>
        </p:nvSpPr>
        <p:spPr>
          <a:xfrm>
            <a:off x="8219542" y="5855818"/>
            <a:ext cx="28346" cy="571500"/>
          </a:xfrm>
          <a:prstGeom prst="roundRect">
            <a:avLst>
              <a:gd name="adj" fmla="val 645170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2"/>
          <p:cNvSpPr txBox="1"/>
          <p:nvPr/>
        </p:nvSpPr>
        <p:spPr>
          <a:xfrm>
            <a:off x="8343900" y="5950915"/>
            <a:ext cx="175381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위탁 시 '선임 간주' 처리 및 행정 대행 가능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81305" y="690554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381305" y="7009790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43" name="Text 35"/>
          <p:cNvSpPr txBox="1"/>
          <p:nvPr/>
        </p:nvSpPr>
        <p:spPr>
          <a:xfrm>
            <a:off x="10175443" y="700979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677010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381305"/>
            <a:ext cx="1047902" cy="276149"/>
          </a:xfrm>
          <a:prstGeom prst="roundRect">
            <a:avLst>
              <a:gd name="adj" fmla="val 91345"/>
            </a:avLst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1305" y="381305"/>
            <a:ext cx="11055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All-In-One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771754"/>
            <a:ext cx="53730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원스톱(One-Stop) 서비스 구성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297534"/>
            <a:ext cx="5677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의무 이행부터 운영 최적화까지, 4가지 핵심 솔루션을 통합 제공합니다.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1944929"/>
            <a:ext cx="4828946" cy="2600554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404" b="-404"/>
          <a:stretch/>
        </p:blipFill>
        <p:spPr>
          <a:xfrm>
            <a:off x="390449" y="1954073"/>
            <a:ext cx="4809744" cy="384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049" y="2869387"/>
            <a:ext cx="43525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19049" y="2221078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23545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66444" y="2243938"/>
            <a:ext cx="24368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Maintenance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266444" y="2453335"/>
            <a:ext cx="28172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정보통신설비 유지보수·관리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19049" y="3068726"/>
            <a:ext cx="44293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34개 대상 설비의 외관, 기능, 안전 상태를 주기적으로 점검하여 장애를 사전에 예방합니다.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556" b="-556"/>
          <a:stretch/>
        </p:blipFill>
        <p:spPr>
          <a:xfrm>
            <a:off x="619049" y="3777386"/>
            <a:ext cx="123444" cy="1426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2493" y="3777386"/>
            <a:ext cx="2162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반기 1회 이상 정기 현장 점검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t="-556" b="-556"/>
          <a:stretch/>
        </p:blipFill>
        <p:spPr>
          <a:xfrm>
            <a:off x="619049" y="4087368"/>
            <a:ext cx="123444" cy="14264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2493" y="4087368"/>
            <a:ext cx="2838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장애 발생 시 신속 대응 체계 가동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76342" y="1944929"/>
            <a:ext cx="4828946" cy="2600554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5486400" y="1954073"/>
            <a:ext cx="4809744" cy="3840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715000" y="2869387"/>
            <a:ext cx="43525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5715000" y="2221078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48502" y="235458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362395" y="2243938"/>
            <a:ext cx="1666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Check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6362395" y="2453335"/>
            <a:ext cx="196321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성능점검 대행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5715000" y="3068726"/>
            <a:ext cx="44293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계측 장비를 활용하여 설비의 성능을 정량적으로 진단하고 객관적인 데이터를 도출합니다.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 t="-556" b="-556"/>
          <a:stretch/>
        </p:blipFill>
        <p:spPr>
          <a:xfrm>
            <a:off x="5715000" y="3777386"/>
            <a:ext cx="123444" cy="14264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38444" y="3777386"/>
            <a:ext cx="2014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1회 이상 정밀 성능 계측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 t="-556" b="-556"/>
          <a:stretch/>
        </p:blipFill>
        <p:spPr>
          <a:xfrm>
            <a:off x="5715000" y="4087368"/>
            <a:ext cx="123444" cy="14264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838444" y="4087368"/>
            <a:ext cx="25127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서식에 따른 결과 보고서 산출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381305" y="4806086"/>
            <a:ext cx="4828946" cy="2600554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t="-404" b="-404"/>
          <a:stretch/>
        </p:blipFill>
        <p:spPr>
          <a:xfrm>
            <a:off x="390449" y="4816145"/>
            <a:ext cx="4809744" cy="38405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619049" y="5730545"/>
            <a:ext cx="43525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5"/>
          <p:cNvSpPr/>
          <p:nvPr/>
        </p:nvSpPr>
        <p:spPr>
          <a:xfrm>
            <a:off x="619049" y="5082235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767182" y="5215738"/>
            <a:ext cx="200254" cy="2286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266444" y="5105095"/>
            <a:ext cx="1476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Expert Assignment</a:t>
            </a:r>
            <a:endParaRPr lang="en-US" sz="800" dirty="0"/>
          </a:p>
        </p:txBody>
      </p:sp>
      <p:sp>
        <p:nvSpPr>
          <p:cNvPr id="39" name="Text 27"/>
          <p:cNvSpPr txBox="1"/>
          <p:nvPr/>
        </p:nvSpPr>
        <p:spPr>
          <a:xfrm>
            <a:off x="1266444" y="5314493"/>
            <a:ext cx="17492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기술자 위탁 선임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619049" y="5929884"/>
            <a:ext cx="44293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 연면적 기준에 부합하는 적격 기술자를 배치하고, 복잡한 행정 신고 업무를 대행합니다.</a:t>
            </a:r>
            <a:endParaRPr lang="en-US" sz="12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1"/>
          <a:srcRect t="-556" b="-556"/>
          <a:stretch/>
        </p:blipFill>
        <p:spPr>
          <a:xfrm>
            <a:off x="619049" y="6638544"/>
            <a:ext cx="123444" cy="142646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42493" y="66385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특급~초급 기술자 맞춤 파견</a:t>
            </a:r>
            <a:endParaRPr lang="en-US" sz="11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 t="-556" b="-556"/>
          <a:stretch/>
        </p:blipFill>
        <p:spPr>
          <a:xfrm>
            <a:off x="619049" y="6948526"/>
            <a:ext cx="123444" cy="14264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742493" y="6948526"/>
            <a:ext cx="26032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선임/해임 신고 및 변경 관리</a:t>
            </a:r>
            <a:endParaRPr lang="en-US" sz="1100" dirty="0"/>
          </a:p>
        </p:txBody>
      </p:sp>
      <p:sp>
        <p:nvSpPr>
          <p:cNvPr id="45" name="Shape 31"/>
          <p:cNvSpPr/>
          <p:nvPr/>
        </p:nvSpPr>
        <p:spPr>
          <a:xfrm>
            <a:off x="5476342" y="4806086"/>
            <a:ext cx="4828946" cy="2600554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rcRect t="-404" b="-404"/>
          <a:stretch/>
        </p:blipFill>
        <p:spPr>
          <a:xfrm>
            <a:off x="5486400" y="4816145"/>
            <a:ext cx="4809744" cy="38405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5715000" y="5730545"/>
            <a:ext cx="435254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3"/>
          <p:cNvSpPr/>
          <p:nvPr/>
        </p:nvSpPr>
        <p:spPr>
          <a:xfrm>
            <a:off x="5715000" y="5082235"/>
            <a:ext cx="495605" cy="495605"/>
          </a:xfrm>
          <a:prstGeom prst="roundRect">
            <a:avLst>
              <a:gd name="adj" fmla="val 85155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3"/>
          <a:srcRect t="-134" b="-134"/>
          <a:stretch/>
        </p:blipFill>
        <p:spPr>
          <a:xfrm>
            <a:off x="5876849" y="5215738"/>
            <a:ext cx="170993" cy="22860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362395" y="5105095"/>
            <a:ext cx="1476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Consulting</a:t>
            </a:r>
            <a:endParaRPr lang="en-US" sz="800" dirty="0"/>
          </a:p>
        </p:txBody>
      </p:sp>
      <p:sp>
        <p:nvSpPr>
          <p:cNvPr id="51" name="Text 35"/>
          <p:cNvSpPr txBox="1"/>
          <p:nvPr/>
        </p:nvSpPr>
        <p:spPr>
          <a:xfrm>
            <a:off x="6362395" y="5314493"/>
            <a:ext cx="17492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컨설팅 지원</a:t>
            </a:r>
            <a:endParaRPr lang="en-US" sz="1500" dirty="0"/>
          </a:p>
        </p:txBody>
      </p:sp>
      <p:sp>
        <p:nvSpPr>
          <p:cNvPr id="52" name="Text 36"/>
          <p:cNvSpPr txBox="1"/>
          <p:nvPr/>
        </p:nvSpPr>
        <p:spPr>
          <a:xfrm>
            <a:off x="5715000" y="5929884"/>
            <a:ext cx="44293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현황 파악부터 노후 설비 교체 계획까지, 인프라 운영 최적화를 위한 로드맵을 제시합니다.</a:t>
            </a:r>
            <a:endParaRPr lang="en-US" sz="12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4"/>
          <a:srcRect t="-556" b="-556"/>
          <a:stretch/>
        </p:blipFill>
        <p:spPr>
          <a:xfrm>
            <a:off x="5715000" y="6638544"/>
            <a:ext cx="123444" cy="142646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5838444" y="663854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현황표 및 관리 대장 구축</a:t>
            </a:r>
            <a:endParaRPr lang="en-US" sz="11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4"/>
          <a:srcRect t="-556" b="-556"/>
          <a:stretch/>
        </p:blipFill>
        <p:spPr>
          <a:xfrm>
            <a:off x="5715000" y="6948526"/>
            <a:ext cx="123444" cy="14264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838444" y="6948526"/>
            <a:ext cx="2454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수선 및 성능 개선 방안 제안</a:t>
            </a:r>
            <a:endParaRPr lang="en-US" sz="1100" dirty="0"/>
          </a:p>
        </p:txBody>
      </p:sp>
      <p:sp>
        <p:nvSpPr>
          <p:cNvPr id="57" name="Shape 39"/>
          <p:cNvSpPr/>
          <p:nvPr/>
        </p:nvSpPr>
        <p:spPr>
          <a:xfrm>
            <a:off x="381305" y="7629754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0"/>
          <p:cNvSpPr txBox="1"/>
          <p:nvPr/>
        </p:nvSpPr>
        <p:spPr>
          <a:xfrm>
            <a:off x="381305" y="7733995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59" name="Text 41"/>
          <p:cNvSpPr txBox="1"/>
          <p:nvPr/>
        </p:nvSpPr>
        <p:spPr>
          <a:xfrm>
            <a:off x="10170871" y="7733995"/>
            <a:ext cx="219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867205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381305"/>
            <a:ext cx="1647749" cy="276149"/>
          </a:xfrm>
          <a:prstGeom prst="roundRect">
            <a:avLst>
              <a:gd name="adj" fmla="val 91345"/>
            </a:avLst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1305" y="381305"/>
            <a:ext cx="17145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Overview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961949"/>
            <a:ext cx="615665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프로세스 (Standard 5-Step)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87729"/>
            <a:ext cx="5238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기준을 완벽하게 준수하는 표준화된 절차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03" b="-403"/>
          <a:stretch/>
        </p:blipFill>
        <p:spPr>
          <a:xfrm>
            <a:off x="856793" y="2725826"/>
            <a:ext cx="8972093" cy="192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81305" y="690554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81305" y="7009790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170871" y="7009790"/>
            <a:ext cx="219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6402" y="2963570"/>
            <a:ext cx="1714500" cy="3562502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6402" y="2963570"/>
            <a:ext cx="1695298" cy="38405"/>
          </a:xfrm>
          <a:prstGeom prst="roundRect">
            <a:avLst>
              <a:gd name="adj" fmla="val 2380940"/>
            </a:avLst>
          </a:prstGeom>
          <a:solidFill>
            <a:srgbClr val="3D2B5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/>
          <a:stretch/>
        </p:blipFill>
        <p:spPr>
          <a:xfrm>
            <a:off x="1233526" y="3282696"/>
            <a:ext cx="200254" cy="2670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39089" y="3754526"/>
            <a:ext cx="795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수립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23621" y="4112057"/>
            <a:ext cx="1420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현황 조사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7395" y="4382719"/>
            <a:ext cx="13716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설비 현장 실사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유지보수·점검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수립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40334" y="5967374"/>
            <a:ext cx="990295" cy="323698"/>
          </a:xfrm>
          <a:prstGeom prst="roundRect">
            <a:avLst>
              <a:gd name="adj" fmla="val 282486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958" b="-1958"/>
          <a:stretch/>
        </p:blipFill>
        <p:spPr>
          <a:xfrm>
            <a:off x="964692" y="6074359"/>
            <a:ext cx="75895" cy="1051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8194" y="5967374"/>
            <a:ext cx="667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계획서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480767" y="2963570"/>
            <a:ext cx="1714500" cy="3562502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2480767" y="2963570"/>
            <a:ext cx="1695298" cy="38405"/>
          </a:xfrm>
          <a:prstGeom prst="roundRect">
            <a:avLst>
              <a:gd name="adj" fmla="val 2380940"/>
            </a:avLst>
          </a:prstGeom>
          <a:solidFill>
            <a:srgbClr val="3D2B5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3204972" y="3282696"/>
            <a:ext cx="267005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719426" y="3754526"/>
            <a:ext cx="12444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점검 실시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696566" y="4112057"/>
            <a:ext cx="1286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정기/정밀 점검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2715768" y="4382719"/>
            <a:ext cx="12481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규정 준수 하에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반기/연간 점검 수행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(정밀 계측)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836469" y="5967374"/>
            <a:ext cx="1009498" cy="323698"/>
          </a:xfrm>
          <a:prstGeom prst="roundRect">
            <a:avLst>
              <a:gd name="adj" fmla="val 282486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2959913" y="6074359"/>
            <a:ext cx="95098" cy="10515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112618" y="5967374"/>
            <a:ext cx="667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점검표 작성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486046" y="2963570"/>
            <a:ext cx="1714500" cy="3562502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/>
          <p:cNvSpPr/>
          <p:nvPr/>
        </p:nvSpPr>
        <p:spPr>
          <a:xfrm>
            <a:off x="4486046" y="2963570"/>
            <a:ext cx="1695298" cy="38405"/>
          </a:xfrm>
          <a:prstGeom prst="roundRect">
            <a:avLst>
              <a:gd name="adj" fmla="val 2380940"/>
            </a:avLst>
          </a:prstGeom>
          <a:solidFill>
            <a:srgbClr val="3D2B5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685" r="-685"/>
          <a:stretch/>
        </p:blipFill>
        <p:spPr>
          <a:xfrm>
            <a:off x="5191049" y="3282696"/>
            <a:ext cx="304495" cy="2670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48733" y="3754526"/>
            <a:ext cx="795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분석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4715561" y="4112057"/>
            <a:ext cx="12591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정밀 분석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759452" y="4382719"/>
            <a:ext cx="11722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항목별 DB화,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분석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파악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836262" y="5967374"/>
            <a:ext cx="1019556" cy="323698"/>
          </a:xfrm>
          <a:prstGeom prst="roundRect">
            <a:avLst>
              <a:gd name="adj" fmla="val 282486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59706" y="6074359"/>
            <a:ext cx="105156" cy="10515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21554" y="5967374"/>
            <a:ext cx="667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리포트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491326" y="2963570"/>
            <a:ext cx="1714500" cy="3562502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491326" y="2963570"/>
            <a:ext cx="1695298" cy="38405"/>
          </a:xfrm>
          <a:prstGeom prst="roundRect">
            <a:avLst>
              <a:gd name="adj" fmla="val 2380940"/>
            </a:avLst>
          </a:prstGeom>
          <a:solidFill>
            <a:srgbClr val="3D2B5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l="-685" r="-685"/>
          <a:stretch/>
        </p:blipFill>
        <p:spPr>
          <a:xfrm>
            <a:off x="7195414" y="3282696"/>
            <a:ext cx="304495" cy="2670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954012" y="3754526"/>
            <a:ext cx="795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보고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6644030" y="4112057"/>
            <a:ext cx="1410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신고 대행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6667805" y="4382719"/>
            <a:ext cx="13624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법령 서식 산출,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관리주체 공식 보고 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제출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6836054" y="5967374"/>
            <a:ext cx="1028700" cy="323698"/>
          </a:xfrm>
          <a:prstGeom prst="roundRect">
            <a:avLst>
              <a:gd name="adj" fmla="val 282486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t="-1750" b="-1750"/>
          <a:stretch/>
        </p:blipFill>
        <p:spPr>
          <a:xfrm>
            <a:off x="6960413" y="6074359"/>
            <a:ext cx="114300" cy="105156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131406" y="5967374"/>
            <a:ext cx="667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내역서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8495690" y="2963570"/>
            <a:ext cx="1714500" cy="3562502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9"/>
          <p:cNvSpPr/>
          <p:nvPr/>
        </p:nvSpPr>
        <p:spPr>
          <a:xfrm>
            <a:off x="8495690" y="2963570"/>
            <a:ext cx="1695298" cy="38405"/>
          </a:xfrm>
          <a:prstGeom prst="roundRect">
            <a:avLst>
              <a:gd name="adj" fmla="val 2380940"/>
            </a:avLst>
          </a:prstGeom>
          <a:solidFill>
            <a:srgbClr val="3D2B5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/>
          <a:stretch/>
        </p:blipFill>
        <p:spPr>
          <a:xfrm>
            <a:off x="9219895" y="3282696"/>
            <a:ext cx="267005" cy="2670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959291" y="3754526"/>
            <a:ext cx="7955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개선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8727948" y="4112057"/>
            <a:ext cx="1253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최적화 제안</a:t>
            </a:r>
            <a:endParaRPr lang="en-US" sz="1100" dirty="0"/>
          </a:p>
        </p:txBody>
      </p:sp>
      <p:sp>
        <p:nvSpPr>
          <p:cNvPr id="54" name="Text 42"/>
          <p:cNvSpPr txBox="1"/>
          <p:nvPr/>
        </p:nvSpPr>
        <p:spPr>
          <a:xfrm>
            <a:off x="8802014" y="4382719"/>
            <a:ext cx="11055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부적합 설비 조치,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수선 및 성능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로드맵 제시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8777326" y="5967374"/>
            <a:ext cx="1152144" cy="323698"/>
          </a:xfrm>
          <a:prstGeom prst="roundRect">
            <a:avLst>
              <a:gd name="adj" fmla="val 282486"/>
            </a:avLst>
          </a:prstGeom>
          <a:solidFill>
            <a:srgbClr val="F3F4F6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3"/>
          <a:srcRect t="-1750" b="-1750"/>
          <a:stretch/>
        </p:blipFill>
        <p:spPr>
          <a:xfrm>
            <a:off x="8901684" y="6074359"/>
            <a:ext cx="114300" cy="105156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9072677" y="5967374"/>
            <a:ext cx="7909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개선안/로드맵</a:t>
            </a:r>
            <a:endParaRPr lang="en-US" sz="9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10343693" y="4440326"/>
            <a:ext cx="95098" cy="152705"/>
          </a:xfrm>
          <a:prstGeom prst="rect">
            <a:avLst/>
          </a:prstGeom>
        </p:spPr>
      </p:pic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10343693" y="4440326"/>
            <a:ext cx="95098" cy="152705"/>
          </a:xfrm>
          <a:prstGeom prst="rect">
            <a:avLst/>
          </a:prstGeom>
        </p:spPr>
      </p:pic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10343693" y="4440326"/>
            <a:ext cx="95098" cy="152705"/>
          </a:xfrm>
          <a:prstGeom prst="rect">
            <a:avLst/>
          </a:prstGeom>
        </p:spPr>
      </p:pic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10343693" y="4440326"/>
            <a:ext cx="95098" cy="152705"/>
          </a:xfrm>
          <a:prstGeom prst="rect">
            <a:avLst/>
          </a:prstGeom>
        </p:spPr>
      </p:pic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5"/>
          <a:srcRect t="-9" b="-9"/>
          <a:stretch/>
        </p:blipFill>
        <p:spPr>
          <a:xfrm>
            <a:off x="1104595" y="2345436"/>
            <a:ext cx="457200" cy="390449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1076249" y="2345436"/>
            <a:ext cx="5148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6"/>
          <a:srcRect t="-9" b="-9"/>
          <a:stretch/>
        </p:blipFill>
        <p:spPr>
          <a:xfrm>
            <a:off x="3109874" y="2345436"/>
            <a:ext cx="457200" cy="390449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3081528" y="2345436"/>
            <a:ext cx="5148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15"/>
          <a:srcRect t="-9" b="-9"/>
          <a:stretch/>
        </p:blipFill>
        <p:spPr>
          <a:xfrm>
            <a:off x="5115154" y="2345436"/>
            <a:ext cx="457200" cy="390449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5085893" y="2345436"/>
            <a:ext cx="5148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16"/>
          <a:srcRect t="-9" b="-9"/>
          <a:stretch/>
        </p:blipFill>
        <p:spPr>
          <a:xfrm>
            <a:off x="7119518" y="2345436"/>
            <a:ext cx="457200" cy="390449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7091172" y="2345436"/>
            <a:ext cx="5148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pic>
        <p:nvPicPr>
          <p:cNvPr id="70" name="Image 19" descr="preencoded.png"/>
          <p:cNvPicPr>
            <a:picLocks noChangeAspect="1"/>
          </p:cNvPicPr>
          <p:nvPr/>
        </p:nvPicPr>
        <p:blipFill>
          <a:blip r:embed="rId15"/>
          <a:srcRect t="-9" b="-9"/>
          <a:stretch/>
        </p:blipFill>
        <p:spPr>
          <a:xfrm>
            <a:off x="9124798" y="2345436"/>
            <a:ext cx="457200" cy="390449"/>
          </a:xfrm>
          <a:prstGeom prst="rect">
            <a:avLst/>
          </a:prstGeom>
        </p:spPr>
      </p:pic>
      <p:sp>
        <p:nvSpPr>
          <p:cNvPr id="71" name="Text 49"/>
          <p:cNvSpPr/>
          <p:nvPr/>
        </p:nvSpPr>
        <p:spPr>
          <a:xfrm>
            <a:off x="9095537" y="2345436"/>
            <a:ext cx="5148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1677010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381305"/>
            <a:ext cx="1476756" cy="276149"/>
          </a:xfrm>
          <a:prstGeom prst="roundRect">
            <a:avLst>
              <a:gd name="adj" fmla="val 91345"/>
            </a:avLst>
          </a:prstGeom>
          <a:solidFill>
            <a:srgbClr val="3D2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1305" y="381305"/>
            <a:ext cx="153619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&amp; Solution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771754"/>
            <a:ext cx="494141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과태료 리스크 vs 해결책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297534"/>
            <a:ext cx="5238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의무 위반 시 제재 사항과 J&amp;G SYSTEM의 완벽 대응 솔루션 비교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1964131"/>
            <a:ext cx="4772254" cy="5362042"/>
          </a:xfrm>
          <a:prstGeom prst="roundRect">
            <a:avLst>
              <a:gd name="adj" fmla="val 918"/>
            </a:avLst>
          </a:prstGeom>
          <a:solidFill>
            <a:srgbClr val="FFF5F5"/>
          </a:solidFill>
          <a:ln w="12699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6656" y="2869387"/>
            <a:ext cx="4181551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76656" y="22594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392985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48156" y="2330806"/>
            <a:ext cx="18333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처분 리스크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6656" y="3107131"/>
            <a:ext cx="4181551" cy="1209751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6656" y="3107131"/>
            <a:ext cx="38405" cy="1209751"/>
          </a:xfrm>
          <a:prstGeom prst="roundRect">
            <a:avLst>
              <a:gd name="adj" fmla="val 29996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905256" y="3297326"/>
            <a:ext cx="127467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미선임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952951" y="3297326"/>
            <a:ext cx="724205" cy="295351"/>
          </a:xfrm>
          <a:prstGeom prst="roundRect">
            <a:avLst>
              <a:gd name="adj" fmla="val 30959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923690" y="3297326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300만원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" y="3664001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기한 내 관리자 선임 신고를 하지 않은 경우 과태료 부과 대상이 됩니다.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" y="4464101"/>
            <a:ext cx="4181551" cy="1209751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76656" y="4464101"/>
            <a:ext cx="38405" cy="1209751"/>
          </a:xfrm>
          <a:prstGeom prst="roundRect">
            <a:avLst>
              <a:gd name="adj" fmla="val 29996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905256" y="4654296"/>
            <a:ext cx="1466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점검기록 미보존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952951" y="4654296"/>
            <a:ext cx="724205" cy="295351"/>
          </a:xfrm>
          <a:prstGeom prst="roundRect">
            <a:avLst>
              <a:gd name="adj" fmla="val 30959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923690" y="4654296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150만원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" y="5020970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성능점검 결과를 기록하지 않거나 5년간 보존하지 않은 경우 제재를 받습니다.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" y="5821070"/>
            <a:ext cx="4181551" cy="1209751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76656" y="5821070"/>
            <a:ext cx="38405" cy="1209751"/>
          </a:xfrm>
          <a:prstGeom prst="roundRect">
            <a:avLst>
              <a:gd name="adj" fmla="val 29996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05256" y="6012180"/>
            <a:ext cx="158374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각종 신고 불이행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952951" y="6012180"/>
            <a:ext cx="724205" cy="295351"/>
          </a:xfrm>
          <a:prstGeom prst="roundRect">
            <a:avLst>
              <a:gd name="adj" fmla="val 30959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3923690" y="6012180"/>
            <a:ext cx="7818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38100" rIns="889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100만원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05256" y="6378854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선임·해임·변경 등 의무 신고 사항을 위반하거나 지연 신고한 경우입니다.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33949" y="1964131"/>
            <a:ext cx="4772254" cy="5362042"/>
          </a:xfrm>
          <a:prstGeom prst="roundRect">
            <a:avLst>
              <a:gd name="adj" fmla="val 918"/>
            </a:avLst>
          </a:prstGeom>
          <a:solidFill>
            <a:srgbClr val="F0F9FF"/>
          </a:solidFill>
          <a:ln w="12699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829300" y="2869387"/>
            <a:ext cx="4181551" cy="9144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829300" y="22594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2802" y="2392985"/>
            <a:ext cx="190195" cy="19019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400800" y="2330806"/>
            <a:ext cx="183337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 대응 솔루션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5829300" y="3107131"/>
            <a:ext cx="4181551" cy="1190549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5829300" y="3107131"/>
            <a:ext cx="38405" cy="1190549"/>
          </a:xfrm>
          <a:prstGeom prst="roundRect">
            <a:avLst>
              <a:gd name="adj" fmla="val 304760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 txBox="1"/>
          <p:nvPr/>
        </p:nvSpPr>
        <p:spPr>
          <a:xfrm>
            <a:off x="6057900" y="3297326"/>
            <a:ext cx="282275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원스톱 위탁 관리 (선임 간주)</a:t>
            </a:r>
            <a:endParaRPr lang="en-US" sz="14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686239" y="3297326"/>
            <a:ext cx="133502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057900" y="3644798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공사업체 위탁 계약을 통해 법적 선임 의무를 즉시 해결하고, 지자체 행정 신고까지 대행합니다.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829300" y="4444898"/>
            <a:ext cx="4181551" cy="1190549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5829300" y="4444898"/>
            <a:ext cx="38405" cy="1190549"/>
          </a:xfrm>
          <a:prstGeom prst="roundRect">
            <a:avLst>
              <a:gd name="adj" fmla="val 304760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 txBox="1"/>
          <p:nvPr/>
        </p:nvSpPr>
        <p:spPr>
          <a:xfrm>
            <a:off x="6057900" y="4636008"/>
            <a:ext cx="247070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점검 데이터 관리</a:t>
            </a:r>
            <a:endParaRPr lang="en-US" sz="1400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686239" y="4636008"/>
            <a:ext cx="133502" cy="152705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057900" y="4983480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서식에 맞춘 정밀 성능점검표 작성 및 5년간 체계적인 이력 관리 시스템을 제공합니다.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5829300" y="5783580"/>
            <a:ext cx="4181551" cy="1190549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5829300" y="5783580"/>
            <a:ext cx="38405" cy="1190549"/>
          </a:xfrm>
          <a:prstGeom prst="roundRect">
            <a:avLst>
              <a:gd name="adj" fmla="val 304760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 txBox="1"/>
          <p:nvPr/>
        </p:nvSpPr>
        <p:spPr>
          <a:xfrm>
            <a:off x="6057900" y="5973775"/>
            <a:ext cx="196870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법령 모니터링</a:t>
            </a:r>
            <a:endParaRPr lang="en-US" sz="14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686239" y="5973775"/>
            <a:ext cx="133502" cy="152705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057900" y="6321247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법령 해석 및 개정 사항을 상시 모니터링하여 선제적인 법적 대응 가이드를 제공합니다.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381305" y="751179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6"/>
          <p:cNvSpPr txBox="1"/>
          <p:nvPr/>
        </p:nvSpPr>
        <p:spPr>
          <a:xfrm>
            <a:off x="381305" y="7616952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10170871" y="7616952"/>
            <a:ext cx="219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8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05095" y="4404665"/>
            <a:ext cx="476402" cy="476402"/>
          </a:xfrm>
          <a:prstGeom prst="rect">
            <a:avLst/>
          </a:prstGeom>
        </p:spPr>
      </p:pic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7"/>
          <a:srcRect l="-1031" r="-1031"/>
          <a:stretch/>
        </p:blipFill>
        <p:spPr>
          <a:xfrm>
            <a:off x="5266944" y="4557370"/>
            <a:ext cx="152705" cy="1709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1533449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1381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Competitiveness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1965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5715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경쟁력 &amp; 레퍼런스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47495"/>
            <a:ext cx="635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22년의 인프라 운영 노하우와 공인된 기술력으로 신뢰할 수 있는 서비스를 제공합니다.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2114093"/>
            <a:ext cx="3161995" cy="1762049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81305" y="2114093"/>
            <a:ext cx="38405" cy="1739189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19049" y="2659990"/>
            <a:ext cx="666598" cy="666598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769" r="-769"/>
          <a:stretch/>
        </p:blipFill>
        <p:spPr>
          <a:xfrm>
            <a:off x="771754" y="2851099"/>
            <a:ext cx="362102" cy="28529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76756" y="2452421"/>
            <a:ext cx="169804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476756" y="2867558"/>
            <a:ext cx="1698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 재계약률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476756" y="3134563"/>
            <a:ext cx="163494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고객 만족도에 기반한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파트너십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65499" y="2114093"/>
            <a:ext cx="3161995" cy="1762049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3765499" y="2114093"/>
            <a:ext cx="38405" cy="1739189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003243" y="2659990"/>
            <a:ext cx="666598" cy="666598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94353" y="2851099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860950" y="2352751"/>
            <a:ext cx="197510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7.5년</a:t>
            </a:r>
            <a:endParaRPr lang="en-US" sz="2600" dirty="0"/>
          </a:p>
        </p:txBody>
      </p:sp>
      <p:sp>
        <p:nvSpPr>
          <p:cNvPr id="21" name="Text 17"/>
          <p:cNvSpPr txBox="1"/>
          <p:nvPr/>
        </p:nvSpPr>
        <p:spPr>
          <a:xfrm>
            <a:off x="4860950" y="2767889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유지보수 기간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860950" y="3034894"/>
            <a:ext cx="190195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장기적인 신뢰 관계를 바탕으로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서비스 제공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149694" y="2114093"/>
            <a:ext cx="3161995" cy="1762049"/>
          </a:xfrm>
          <a:prstGeom prst="roundRect">
            <a:avLst>
              <a:gd name="adj" fmla="val 6732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7149694" y="2114093"/>
            <a:ext cx="38405" cy="1739189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7387438" y="2659990"/>
            <a:ext cx="666598" cy="666598"/>
          </a:xfrm>
          <a:prstGeom prst="ellipse">
            <a:avLst/>
          </a:prstGeom>
          <a:solidFill>
            <a:srgbClr val="F0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78547" y="2851099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245145" y="2452421"/>
            <a:ext cx="165689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4종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8245145" y="2867558"/>
            <a:ext cx="1656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공인 인증 보유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245145" y="3134563"/>
            <a:ext cx="159562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정보통신공사업 등록증 외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법적 자격 완비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81305" y="4101084"/>
            <a:ext cx="3543300" cy="2924251"/>
          </a:xfrm>
          <a:prstGeom prst="roundRect">
            <a:avLst>
              <a:gd name="adj" fmla="val 2445"/>
            </a:avLst>
          </a:prstGeom>
          <a:solidFill>
            <a:srgbClr val="F8FAFB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l="-2050" r="-2050"/>
          <a:stretch/>
        </p:blipFill>
        <p:spPr>
          <a:xfrm>
            <a:off x="619049" y="4381805"/>
            <a:ext cx="133502" cy="17099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28446" y="4339742"/>
            <a:ext cx="1610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 면허 및 인증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19049" y="4748479"/>
            <a:ext cx="3066898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4893869"/>
            <a:ext cx="133502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90295" y="4748479"/>
            <a:ext cx="184251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정보통신공사업 등록증 (필수)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19049" y="5287061"/>
            <a:ext cx="3066898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32450"/>
            <a:ext cx="133502" cy="13350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90295" y="5287061"/>
            <a:ext cx="14200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근로자파견사업 허가증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19049" y="5824728"/>
            <a:ext cx="3066898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970118"/>
            <a:ext cx="133502" cy="13350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90294" y="5824728"/>
            <a:ext cx="184251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한국산업기술진흥협회 회원사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19049" y="6363310"/>
            <a:ext cx="3066898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6508699"/>
            <a:ext cx="133502" cy="1335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90295" y="6363310"/>
            <a:ext cx="155539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인정교육 이수 엔지니어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4145890" y="4101084"/>
            <a:ext cx="6162142" cy="2924251"/>
          </a:xfrm>
          <a:prstGeom prst="roundRect">
            <a:avLst>
              <a:gd name="adj" fmla="val 2445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rcRect l="-1337" r="-1337"/>
          <a:stretch/>
        </p:blipFill>
        <p:spPr>
          <a:xfrm>
            <a:off x="4384548" y="4381805"/>
            <a:ext cx="219456" cy="17099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4678985" y="4339743"/>
            <a:ext cx="2422672" cy="21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 </a:t>
            </a:r>
            <a:r>
              <a:rPr lang="en-US" sz="1300" b="1" dirty="0" err="1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레퍼런스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4574743" y="5626977"/>
            <a:ext cx="2790749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4669841" y="5152403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4938" y="5247501"/>
            <a:ext cx="152705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5127041" y="5123143"/>
            <a:ext cx="1218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 기관</a:t>
            </a:r>
            <a:endParaRPr lang="en-US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5127041" y="5338027"/>
            <a:ext cx="1142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경기도 교육청 외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7473391" y="5626977"/>
            <a:ext cx="2790749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2"/>
          <p:cNvSpPr/>
          <p:nvPr/>
        </p:nvSpPr>
        <p:spPr>
          <a:xfrm>
            <a:off x="7568489" y="5152403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63586" y="5247501"/>
            <a:ext cx="152705" cy="152705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025689" y="5123143"/>
            <a:ext cx="1066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기업</a:t>
            </a:r>
            <a:endParaRPr lang="en-US" sz="1100" dirty="0"/>
          </a:p>
        </p:txBody>
      </p:sp>
      <p:sp>
        <p:nvSpPr>
          <p:cNvPr id="57" name="Text 44"/>
          <p:cNvSpPr txBox="1"/>
          <p:nvPr/>
        </p:nvSpPr>
        <p:spPr>
          <a:xfrm>
            <a:off x="8025689" y="5338027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로얄</a:t>
            </a:r>
            <a:r>
              <a:rPr lang="en-US" altLang="ko-KR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**</a:t>
            </a:r>
            <a:r>
              <a:rPr lang="ko-KR" alt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ㅋ외</a:t>
            </a: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다수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4669841" y="5869293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1"/>
          <a:srcRect t="-234" b="-234"/>
          <a:stretch/>
        </p:blipFill>
        <p:spPr>
          <a:xfrm>
            <a:off x="4754880" y="5964391"/>
            <a:ext cx="170993" cy="15270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5127041" y="5840947"/>
            <a:ext cx="802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</a:t>
            </a:r>
            <a:r>
              <a:rPr lang="en-US" altLang="ko-KR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5127041" y="6054916"/>
            <a:ext cx="1142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K * </a:t>
            </a:r>
            <a:r>
              <a:rPr lang="ko-KR" altLang="en-US" sz="900" dirty="0" err="1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이니시스</a:t>
            </a: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</a:rPr>
              <a:t> 외 다수</a:t>
            </a:r>
            <a:endParaRPr lang="en-US" sz="900" dirty="0"/>
          </a:p>
        </p:txBody>
      </p:sp>
      <p:sp>
        <p:nvSpPr>
          <p:cNvPr id="64" name="Shape 50"/>
          <p:cNvSpPr/>
          <p:nvPr/>
        </p:nvSpPr>
        <p:spPr>
          <a:xfrm>
            <a:off x="7568489" y="5869293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7644384" y="5964391"/>
            <a:ext cx="190195" cy="152705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8025689" y="5840947"/>
            <a:ext cx="11768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</a:t>
            </a: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67" name="Text 52"/>
          <p:cNvSpPr txBox="1"/>
          <p:nvPr/>
        </p:nvSpPr>
        <p:spPr>
          <a:xfrm>
            <a:off x="8025689" y="6054916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K* / S* </a:t>
            </a:r>
            <a:r>
              <a:rPr lang="en-US" altLang="ko-KR" sz="900" dirty="0" err="1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통신사</a:t>
            </a:r>
            <a:endParaRPr lang="en-US" altLang="ko-KR" sz="900" dirty="0"/>
          </a:p>
        </p:txBody>
      </p:sp>
      <p:sp>
        <p:nvSpPr>
          <p:cNvPr id="78" name="Shape 61"/>
          <p:cNvSpPr/>
          <p:nvPr/>
        </p:nvSpPr>
        <p:spPr>
          <a:xfrm>
            <a:off x="381305" y="7215530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2"/>
          <p:cNvSpPr txBox="1"/>
          <p:nvPr/>
        </p:nvSpPr>
        <p:spPr>
          <a:xfrm>
            <a:off x="381305" y="7320686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80" name="Text 63"/>
          <p:cNvSpPr txBox="1"/>
          <p:nvPr/>
        </p:nvSpPr>
        <p:spPr>
          <a:xfrm>
            <a:off x="10175443" y="7320686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81305"/>
            <a:ext cx="780898" cy="314554"/>
          </a:xfrm>
          <a:prstGeom prst="roundRect">
            <a:avLst>
              <a:gd name="adj" fmla="val 70472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495605" y="437998"/>
            <a:ext cx="6757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1305" y="1819656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81305" y="886054"/>
            <a:ext cx="35149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-37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요약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1447495"/>
            <a:ext cx="381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정보통신설비 관리를 위한 핵심 가치 제안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1305" y="2114093"/>
            <a:ext cx="9924898" cy="128564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2699">
            <a:solidFill>
              <a:srgbClr val="3D2B5A"/>
            </a:solidFill>
            <a:prstDash val="solid"/>
          </a:ln>
          <a:effectLst>
            <a:outerShdw blurRad="101600" dist="38100" dir="16200000" algn="bl" rotWithShape="0">
              <a:srgbClr val="3D2B5A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594714" y="2409444"/>
            <a:ext cx="749899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"법적 리스크 완벽 대응 + 시스템 운영 안정성 + 비용 절감"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37690" y="2827325"/>
            <a:ext cx="74166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제이앤지시스템은 이 모든 것을 하나로 통합한 최상의 맞춤형 솔루션을 제공합니다.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1305" y="3679546"/>
            <a:ext cx="3161995" cy="3038551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407" b="-407"/>
          <a:stretch/>
        </p:blipFill>
        <p:spPr>
          <a:xfrm>
            <a:off x="390449" y="3688690"/>
            <a:ext cx="3136392" cy="384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654150" y="3955694"/>
            <a:ext cx="609905" cy="609905"/>
          </a:xfrm>
          <a:prstGeom prst="ellipse">
            <a:avLst/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44345" y="414589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4458" y="4717390"/>
            <a:ext cx="207477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대응 (Risk Free)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83641" y="5103266"/>
            <a:ext cx="235275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복잡한 법령 해석부터 행정 신고까지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완벽하게 대행하여 과태료 부과 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법적 리스크를 100% 제거합니다. 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049" y="6114593"/>
            <a:ext cx="2685593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034186" y="6310274"/>
            <a:ext cx="114300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91463" y="6114593"/>
            <a:ext cx="1733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기준 충족 및 보고서 완비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765499" y="3679546"/>
            <a:ext cx="3161995" cy="3038551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407" b="-407"/>
          <a:stretch/>
        </p:blipFill>
        <p:spPr>
          <a:xfrm>
            <a:off x="3774643" y="3688690"/>
            <a:ext cx="3136392" cy="3840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38344" y="3955694"/>
            <a:ext cx="609905" cy="609905"/>
          </a:xfrm>
          <a:prstGeom prst="ellipse">
            <a:avLst/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28539" y="414589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171493" y="4717390"/>
            <a:ext cx="23463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절감 (Cost Saving)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4052621" y="5103266"/>
            <a:ext cx="258135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노후 설비의 조기 발견과 예방 정비로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설비 수명을 연장하고, 돌발 고장에 따른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긴급 교체 비용을 최소화합니다. 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003243" y="6114593"/>
            <a:ext cx="2685593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418381" y="6310274"/>
            <a:ext cx="114300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575658" y="6114593"/>
            <a:ext cx="1733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2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수명 연장 및 예산 최적화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149694" y="3679546"/>
            <a:ext cx="3161995" cy="3038551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395" b="-395"/>
          <a:stretch/>
        </p:blipFill>
        <p:spPr>
          <a:xfrm>
            <a:off x="7158838" y="3688690"/>
            <a:ext cx="3137306" cy="384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422538" y="3955694"/>
            <a:ext cx="609905" cy="609905"/>
          </a:xfrm>
          <a:prstGeom prst="ellipse">
            <a:avLst/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8584387" y="4145890"/>
            <a:ext cx="285293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563002" y="4717390"/>
            <a:ext cx="233537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최적화 (Efficiency)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7529170" y="5103266"/>
            <a:ext cx="240030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전문가 위탁을 통해 시설 관리자의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과중한 업무 부담을 경감시키고,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본연의 핵심 업무 집중도를 높입니다. 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7387438" y="6114593"/>
            <a:ext cx="2685593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7741310" y="6310274"/>
            <a:ext cx="114300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895844" y="6114593"/>
            <a:ext cx="18626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F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효율성 증대 및 전문성 확보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381305" y="690554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 txBox="1"/>
          <p:nvPr/>
        </p:nvSpPr>
        <p:spPr>
          <a:xfrm>
            <a:off x="381305" y="7009790"/>
            <a:ext cx="13505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J&amp;G SYSTEM Proposal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10175443" y="700979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686593" cy="7562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845052" y="1469441"/>
            <a:ext cx="3001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75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CONTACT US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3050438" y="2269541"/>
            <a:ext cx="459394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비즈니스를 위한 최적의 파트너가 되겠습니다.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1754" y="2907792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1754" y="2907792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9498" y="314553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6774" y="3279038"/>
            <a:ext cx="142646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19402" y="3141878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Company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619402" y="3365906"/>
            <a:ext cx="212049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주식회사 제이앤지시스템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95344" y="2907792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895344" y="2907792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134002" y="314553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374" r="-1374"/>
          <a:stretch/>
        </p:blipFill>
        <p:spPr>
          <a:xfrm>
            <a:off x="4276649" y="3279038"/>
            <a:ext cx="170993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2993" y="3141878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Representative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742993" y="3365906"/>
            <a:ext cx="138988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박장훈 대표이사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019849" y="2907792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019849" y="2907792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257593" y="314553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7376465" y="3279038"/>
            <a:ext cx="219456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867498" y="3048610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867498" y="3272638"/>
            <a:ext cx="179313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성동구 아차산로 103,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영동테크노타워 2101호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1754" y="4069080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71754" y="4069080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009498" y="430773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3000" y="4441241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19402" y="4304081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Telephone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619402" y="4528109"/>
            <a:ext cx="13222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02-3444-3574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895344" y="4069080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3895344" y="4069080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4134002" y="430773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66590" y="4441241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742993" y="4317797"/>
            <a:ext cx="1838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E-mail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4742993" y="4540910"/>
            <a:ext cx="20546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sales@jngsystem.co.kr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019849" y="4069080"/>
            <a:ext cx="2895905" cy="933602"/>
          </a:xfrm>
          <a:prstGeom prst="roundRect">
            <a:avLst>
              <a:gd name="adj" fmla="val 23986"/>
            </a:avLst>
          </a:prstGeom>
          <a:solidFill>
            <a:srgbClr val="FFFFFF"/>
          </a:solidFill>
          <a:ln w="12699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7019849" y="4069080"/>
            <a:ext cx="38405" cy="914400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7257593" y="430773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8FAFC"/>
          </a:solidFill>
          <a:ln w="12699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91095" y="4441241"/>
            <a:ext cx="190195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867498" y="4317797"/>
            <a:ext cx="1752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Website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7867498" y="4540910"/>
            <a:ext cx="18626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www.jngsystem.co.kr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2820924" y="5574182"/>
            <a:ext cx="505023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인프라 운영의 새로운 기준, 제이앤지시스템이 함께합니다.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381305" y="6905549"/>
            <a:ext cx="9924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381305" y="7009790"/>
            <a:ext cx="37728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Copyright © 2026 J&amp;G SYSTEM CO., LTD. All rights reserved.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10175443" y="700979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7DD7D02-8909-78D5-DA8B-3DD35B432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7377" y="495816"/>
            <a:ext cx="1688377" cy="593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1701</Words>
  <Application>Microsoft Office PowerPoint</Application>
  <PresentationFormat>사용자 지정</PresentationFormat>
  <Paragraphs>357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박 장훈 [jhpark@jngsystem.co.kr]</cp:lastModifiedBy>
  <cp:revision>2</cp:revision>
  <cp:lastPrinted>2026-03-18T06:27:27Z</cp:lastPrinted>
  <dcterms:created xsi:type="dcterms:W3CDTF">2026-03-18T05:59:05Z</dcterms:created>
  <dcterms:modified xsi:type="dcterms:W3CDTF">2026-03-18T07:24:46Z</dcterms:modified>
</cp:coreProperties>
</file>